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 id="2147483665"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25E4466-A576-4408-90E8-BC6B51999191}">
  <a:tblStyle styleId="{525E4466-A576-4408-90E8-BC6B51999191}"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AECD382-3CF4-4CC6-B9AF-01778B92ADE0}" styleName="Table_1">
    <a:wholeTbl>
      <a:tcTxStyle b="off" i="off">
        <a:font>
          <a:latin typeface="Calibri"/>
          <a:ea typeface="Calibri"/>
          <a:cs typeface="Calibri"/>
        </a:font>
        <a:schemeClr val="dk1"/>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cBdr>
      </a:tcStyle>
    </a:band1V>
    <a:band2V>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3"/>
          <p:cNvSpPr/>
          <p:nvPr/>
        </p:nvSpPr>
        <p:spPr>
          <a:xfrm>
            <a:off x="87228" y="60325"/>
            <a:ext cx="1532022" cy="620712"/>
          </a:xfrm>
          <a:prstGeom prst="rect">
            <a:avLst/>
          </a:prstGeom>
          <a:blipFill rotWithShape="1">
            <a:blip r:embed="rId2">
              <a:alphaModFix amt="78101"/>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9"/>
        <p:cNvGrpSpPr/>
        <p:nvPr/>
      </p:nvGrpSpPr>
      <p:grpSpPr>
        <a:xfrm>
          <a:off x="0" y="0"/>
          <a:ext cx="0" cy="0"/>
          <a:chOff x="0" y="0"/>
          <a:chExt cx="0" cy="0"/>
        </a:xfrm>
      </p:grpSpPr>
      <p:sp>
        <p:nvSpPr>
          <p:cNvPr id="30" name="Google Shape;30;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8" name="Google Shape;3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5"/>
        <p:cNvGrpSpPr/>
        <p:nvPr/>
      </p:nvGrpSpPr>
      <p:grpSpPr>
        <a:xfrm>
          <a:off x="0" y="0"/>
          <a:ext cx="0" cy="0"/>
          <a:chOff x="0" y="0"/>
          <a:chExt cx="0" cy="0"/>
        </a:xfrm>
      </p:grpSpPr>
      <p:sp>
        <p:nvSpPr>
          <p:cNvPr id="56" name="Google Shape;5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0"/>
          <p:cNvSpPr>
            <a:spLocks noGrp="1"/>
          </p:cNvSpPr>
          <p:nvPr>
            <p:ph type="pic" idx="2"/>
          </p:nvPr>
        </p:nvSpPr>
        <p:spPr>
          <a:xfrm>
            <a:off x="5183188" y="987425"/>
            <a:ext cx="6172200" cy="4873625"/>
          </a:xfrm>
          <a:prstGeom prst="rect">
            <a:avLst/>
          </a:prstGeom>
          <a:noFill/>
          <a:ln>
            <a:noFill/>
          </a:ln>
        </p:spPr>
      </p:sp>
      <p:sp>
        <p:nvSpPr>
          <p:cNvPr id="69" name="Google Shape;69;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91"/>
        <p:cNvGrpSpPr/>
        <p:nvPr/>
      </p:nvGrpSpPr>
      <p:grpSpPr>
        <a:xfrm>
          <a:off x="0" y="0"/>
          <a:ext cx="0" cy="0"/>
          <a:chOff x="0" y="0"/>
          <a:chExt cx="0" cy="0"/>
        </a:xfrm>
      </p:grpSpPr>
      <p:sp>
        <p:nvSpPr>
          <p:cNvPr id="92" name="Google Shape;92;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4" name="Google Shape;9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1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6" name="Google Shape;106;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1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1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1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9" name="Google Shape;119;p1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1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1" name="Google Shape;121;p1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7" name="Google Shape;87;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61417" y="300399"/>
            <a:ext cx="10392383" cy="77683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r>
              <a:rPr lang="en-US" sz="2400" b="1">
                <a:solidFill>
                  <a:srgbClr val="14284B"/>
                </a:solidFill>
              </a:rPr>
              <a:t>Expense Splitter and Group Budget Manager</a:t>
            </a:r>
            <a:endParaRPr sz="2400" b="1">
              <a:solidFill>
                <a:srgbClr val="14284B"/>
              </a:solidFill>
              <a:latin typeface="Calibri"/>
              <a:ea typeface="Calibri"/>
              <a:cs typeface="Calibri"/>
              <a:sym typeface="Calibri"/>
            </a:endParaRPr>
          </a:p>
        </p:txBody>
      </p:sp>
      <p:sp>
        <p:nvSpPr>
          <p:cNvPr id="132" name="Google Shape;132;p19"/>
          <p:cNvSpPr txBox="1"/>
          <p:nvPr/>
        </p:nvSpPr>
        <p:spPr>
          <a:xfrm>
            <a:off x="961417" y="5032000"/>
            <a:ext cx="10506683" cy="1380753"/>
          </a:xfrm>
          <a:prstGeom prst="rect">
            <a:avLst/>
          </a:prstGeom>
          <a:noFill/>
          <a:ln>
            <a:noFill/>
          </a:ln>
        </p:spPr>
        <p:txBody>
          <a:bodyPr spcFirstLastPara="1" wrap="square" lIns="91425" tIns="45700" rIns="91425" bIns="45700" anchor="t" anchorCtr="0">
            <a:normAutofit lnSpcReduction="10000"/>
          </a:bodyPr>
          <a:lstStyle/>
          <a:p>
            <a:pPr marL="0" marR="0" lvl="0" indent="0" algn="ctr" rtl="0">
              <a:lnSpc>
                <a:spcPct val="90000"/>
              </a:lnSpc>
              <a:spcBef>
                <a:spcPts val="0"/>
              </a:spcBef>
              <a:spcAft>
                <a:spcPts val="0"/>
              </a:spcAft>
              <a:buClr>
                <a:schemeClr val="dk1"/>
              </a:buClr>
              <a:buSzPts val="1800"/>
              <a:buFont typeface="Arial"/>
              <a:buNone/>
            </a:pPr>
            <a:endParaRPr sz="1800" b="1" i="0" u="none" strike="noStrike" cap="none" dirty="0">
              <a:solidFill>
                <a:srgbClr val="C00000"/>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1800"/>
              <a:buFont typeface="Arial"/>
              <a:buNone/>
            </a:pPr>
            <a:endParaRPr sz="1800" b="1" i="0" u="none" strike="noStrike" cap="none" dirty="0">
              <a:solidFill>
                <a:srgbClr val="C00000"/>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1800"/>
              <a:buFont typeface="Arial"/>
              <a:buNone/>
            </a:pPr>
            <a:endParaRPr sz="1800" b="1" i="0" u="none" strike="noStrike" cap="none" dirty="0">
              <a:solidFill>
                <a:srgbClr val="C00000"/>
              </a:solidFill>
              <a:latin typeface="Calibri"/>
              <a:ea typeface="Calibri"/>
              <a:cs typeface="Calibri"/>
              <a:sym typeface="Calibri"/>
            </a:endParaRPr>
          </a:p>
          <a:p>
            <a:pPr marL="0" marR="0" lvl="0" indent="0" algn="ctr" rtl="0">
              <a:lnSpc>
                <a:spcPct val="90000"/>
              </a:lnSpc>
              <a:spcBef>
                <a:spcPts val="1000"/>
              </a:spcBef>
              <a:spcAft>
                <a:spcPts val="0"/>
              </a:spcAft>
              <a:buClr>
                <a:srgbClr val="C00000"/>
              </a:buClr>
              <a:buSzPts val="1800"/>
              <a:buFont typeface="Arial"/>
              <a:buNone/>
            </a:pPr>
            <a:r>
              <a:rPr lang="en-US" sz="1800" b="1" i="0" u="none" strike="noStrike" cap="none" dirty="0">
                <a:solidFill>
                  <a:srgbClr val="C00000"/>
                </a:solidFill>
                <a:latin typeface="Calibri"/>
                <a:ea typeface="Calibri"/>
                <a:cs typeface="Calibri"/>
                <a:sym typeface="Calibri"/>
              </a:rPr>
              <a:t>KONERU LAKSHMAIAH EDUCATION FOUNDATION</a:t>
            </a:r>
            <a:endParaRPr dirty="0"/>
          </a:p>
          <a:p>
            <a:pPr marL="0" marR="0" lvl="0" indent="0" algn="l" rtl="0">
              <a:lnSpc>
                <a:spcPct val="90000"/>
              </a:lnSpc>
              <a:spcBef>
                <a:spcPts val="1000"/>
              </a:spcBef>
              <a:spcAft>
                <a:spcPts val="0"/>
              </a:spcAft>
              <a:buClr>
                <a:schemeClr val="dk1"/>
              </a:buClr>
              <a:buSzPts val="1800"/>
              <a:buFont typeface="Arial"/>
              <a:buNone/>
            </a:pPr>
            <a:endParaRPr sz="1800" b="1" i="0" u="none" strike="noStrike" cap="none" dirty="0">
              <a:solidFill>
                <a:srgbClr val="0070C0"/>
              </a:solidFill>
              <a:latin typeface="Calibri"/>
              <a:ea typeface="Calibri"/>
              <a:cs typeface="Calibri"/>
              <a:sym typeface="Calibri"/>
            </a:endParaRPr>
          </a:p>
        </p:txBody>
      </p:sp>
      <p:sp>
        <p:nvSpPr>
          <p:cNvPr id="133" name="Google Shape;133;p19"/>
          <p:cNvSpPr txBox="1"/>
          <p:nvPr/>
        </p:nvSpPr>
        <p:spPr>
          <a:xfrm>
            <a:off x="952500" y="3143780"/>
            <a:ext cx="10515600" cy="1806292"/>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ctr" rtl="0">
              <a:lnSpc>
                <a:spcPct val="90000"/>
              </a:lnSpc>
              <a:spcBef>
                <a:spcPts val="0"/>
              </a:spcBef>
              <a:spcAft>
                <a:spcPts val="0"/>
              </a:spcAft>
              <a:buClr>
                <a:schemeClr val="dk1"/>
              </a:buClr>
              <a:buSzPct val="100000"/>
              <a:buFont typeface="Arial"/>
              <a:buNone/>
            </a:pPr>
            <a:r>
              <a:rPr lang="en-US" sz="2400" b="0" i="0" u="none" strike="noStrike" cap="none">
                <a:solidFill>
                  <a:schemeClr val="dk1"/>
                </a:solidFill>
                <a:latin typeface="Calibri"/>
                <a:ea typeface="Calibri"/>
                <a:cs typeface="Calibri"/>
                <a:sym typeface="Calibri"/>
              </a:rPr>
              <a:t>Under the Guidance </a:t>
            </a:r>
            <a:endParaRPr/>
          </a:p>
          <a:p>
            <a:pPr marL="0" marR="0" lvl="0" indent="0" algn="ctr" rtl="0">
              <a:lnSpc>
                <a:spcPct val="90000"/>
              </a:lnSpc>
              <a:spcBef>
                <a:spcPts val="1000"/>
              </a:spcBef>
              <a:spcAft>
                <a:spcPts val="0"/>
              </a:spcAft>
              <a:buClr>
                <a:schemeClr val="dk1"/>
              </a:buClr>
              <a:buSzPct val="100000"/>
              <a:buFont typeface="Arial"/>
              <a:buNone/>
            </a:pPr>
            <a:r>
              <a:rPr lang="en-US" sz="2400" b="0" i="0" u="none" strike="noStrike" cap="none">
                <a:solidFill>
                  <a:schemeClr val="dk1"/>
                </a:solidFill>
                <a:latin typeface="Calibri"/>
                <a:ea typeface="Calibri"/>
                <a:cs typeface="Calibri"/>
                <a:sym typeface="Calibri"/>
              </a:rPr>
              <a:t>of </a:t>
            </a:r>
            <a:endParaRPr sz="2400" b="0" i="0" u="none" strike="noStrike" cap="none">
              <a:solidFill>
                <a:srgbClr val="C8102E"/>
              </a:solidFill>
              <a:latin typeface="Calibri"/>
              <a:ea typeface="Calibri"/>
              <a:cs typeface="Calibri"/>
              <a:sym typeface="Calibri"/>
            </a:endParaRPr>
          </a:p>
          <a:p>
            <a:pPr marL="0" marR="0" lvl="0" indent="0" algn="ctr" rtl="0">
              <a:lnSpc>
                <a:spcPct val="90000"/>
              </a:lnSpc>
              <a:spcBef>
                <a:spcPts val="1000"/>
              </a:spcBef>
              <a:spcAft>
                <a:spcPts val="0"/>
              </a:spcAft>
              <a:buClr>
                <a:srgbClr val="C8102E"/>
              </a:buClr>
              <a:buSzPct val="100000"/>
              <a:buFont typeface="Arial"/>
              <a:buNone/>
            </a:pPr>
            <a:r>
              <a:rPr lang="en-US" sz="2400" b="0" i="0" u="none" strike="noStrike" cap="none">
                <a:solidFill>
                  <a:srgbClr val="C8102E"/>
                </a:solidFill>
                <a:latin typeface="Calibri"/>
                <a:ea typeface="Calibri"/>
                <a:cs typeface="Calibri"/>
                <a:sym typeface="Calibri"/>
              </a:rPr>
              <a:t>Dr. S Spandana</a:t>
            </a:r>
            <a:endParaRPr sz="2400" b="0" i="0" u="none" strike="noStrike" cap="none">
              <a:solidFill>
                <a:srgbClr val="C8102E"/>
              </a:solidFill>
              <a:latin typeface="Calibri"/>
              <a:ea typeface="Calibri"/>
              <a:cs typeface="Calibri"/>
              <a:sym typeface="Calibri"/>
            </a:endParaRPr>
          </a:p>
          <a:p>
            <a:pPr marL="0" marR="0" lvl="0" indent="0" algn="ctr" rtl="0">
              <a:lnSpc>
                <a:spcPct val="90000"/>
              </a:lnSpc>
              <a:spcBef>
                <a:spcPts val="1000"/>
              </a:spcBef>
              <a:spcAft>
                <a:spcPts val="0"/>
              </a:spcAft>
              <a:buClr>
                <a:srgbClr val="C8102E"/>
              </a:buClr>
              <a:buSzPct val="100000"/>
              <a:buFont typeface="Arial"/>
              <a:buNone/>
            </a:pPr>
            <a:r>
              <a:rPr lang="en-US" sz="2400" b="0" i="0" u="none" strike="noStrike" cap="none">
                <a:solidFill>
                  <a:srgbClr val="C8102E"/>
                </a:solidFill>
                <a:latin typeface="Calibri"/>
                <a:ea typeface="Calibri"/>
                <a:cs typeface="Calibri"/>
                <a:sym typeface="Calibri"/>
              </a:rPr>
              <a:t>Assistant Professor</a:t>
            </a:r>
            <a:endParaRPr/>
          </a:p>
          <a:p>
            <a:pPr marL="0" marR="0" lvl="0" indent="0" algn="ctr" rtl="0">
              <a:lnSpc>
                <a:spcPct val="90000"/>
              </a:lnSpc>
              <a:spcBef>
                <a:spcPts val="1000"/>
              </a:spcBef>
              <a:spcAft>
                <a:spcPts val="0"/>
              </a:spcAft>
              <a:buClr>
                <a:srgbClr val="14284B"/>
              </a:buClr>
              <a:buSzPct val="100000"/>
              <a:buFont typeface="Arial"/>
              <a:buNone/>
            </a:pPr>
            <a:r>
              <a:rPr lang="en-US" sz="2400" b="0" i="0" u="none" strike="noStrike" cap="none">
                <a:solidFill>
                  <a:srgbClr val="14284B"/>
                </a:solidFill>
                <a:latin typeface="Calibri"/>
                <a:ea typeface="Calibri"/>
                <a:cs typeface="Calibri"/>
                <a:sym typeface="Calibri"/>
              </a:rPr>
              <a:t>Department of Computer Science and Engineering </a:t>
            </a:r>
            <a:endParaRPr/>
          </a:p>
          <a:p>
            <a:pPr marL="0" marR="0" lvl="0" indent="0" algn="l" rtl="0">
              <a:lnSpc>
                <a:spcPct val="90000"/>
              </a:lnSpc>
              <a:spcBef>
                <a:spcPts val="1000"/>
              </a:spcBef>
              <a:spcAft>
                <a:spcPts val="0"/>
              </a:spcAft>
              <a:buClr>
                <a:schemeClr val="dk1"/>
              </a:buClr>
              <a:buSzPct val="100000"/>
              <a:buFont typeface="Arial"/>
              <a:buNone/>
            </a:pPr>
            <a:endParaRPr sz="2400" b="0" i="0" u="none" strike="noStrike" cap="none">
              <a:solidFill>
                <a:srgbClr val="C8102E"/>
              </a:solidFill>
              <a:latin typeface="Calibri"/>
              <a:ea typeface="Calibri"/>
              <a:cs typeface="Calibri"/>
              <a:sym typeface="Calibri"/>
            </a:endParaRPr>
          </a:p>
        </p:txBody>
      </p:sp>
      <p:sp>
        <p:nvSpPr>
          <p:cNvPr id="134" name="Google Shape;13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solidFill>
                  <a:schemeClr val="lt1"/>
                </a:solidFill>
              </a:rPr>
              <a:t> </a:t>
            </a:r>
            <a:endParaRPr/>
          </a:p>
        </p:txBody>
      </p:sp>
      <p:sp>
        <p:nvSpPr>
          <p:cNvPr id="135" name="Google Shape;13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136" name="Google Shape;136;p19"/>
          <p:cNvPicPr preferRelativeResize="0"/>
          <p:nvPr/>
        </p:nvPicPr>
        <p:blipFill rotWithShape="1">
          <a:blip r:embed="rId3">
            <a:alphaModFix/>
          </a:blip>
          <a:srcRect/>
          <a:stretch/>
        </p:blipFill>
        <p:spPr>
          <a:xfrm>
            <a:off x="5056040" y="4860024"/>
            <a:ext cx="2618924" cy="1243012"/>
          </a:xfrm>
          <a:prstGeom prst="rect">
            <a:avLst/>
          </a:prstGeom>
          <a:noFill/>
          <a:ln>
            <a:noFill/>
          </a:ln>
        </p:spPr>
      </p:pic>
      <p:graphicFrame>
        <p:nvGraphicFramePr>
          <p:cNvPr id="137" name="Google Shape;137;p19"/>
          <p:cNvGraphicFramePr/>
          <p:nvPr/>
        </p:nvGraphicFramePr>
        <p:xfrm>
          <a:off x="2032000" y="1680962"/>
          <a:ext cx="8128000" cy="1147602"/>
        </p:xfrm>
        <a:graphic>
          <a:graphicData uri="http://schemas.openxmlformats.org/drawingml/2006/table">
            <a:tbl>
              <a:tblPr firstRow="1" bandRow="1">
                <a:noFill/>
                <a:tableStyleId>{525E4466-A576-4408-90E8-BC6B51999191}</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50">
                <a:tc>
                  <a:txBody>
                    <a:bodyPr/>
                    <a:lstStyle/>
                    <a:p>
                      <a:pPr marL="0" lvl="0" indent="0" algn="l" rtl="0">
                        <a:lnSpc>
                          <a:spcPct val="115000"/>
                        </a:lnSpc>
                        <a:spcBef>
                          <a:spcPts val="0"/>
                        </a:spcBef>
                        <a:spcAft>
                          <a:spcPts val="0"/>
                        </a:spcAft>
                        <a:buSzPts val="1100"/>
                        <a:buNone/>
                      </a:pPr>
                      <a:r>
                        <a:rPr lang="en-US" sz="1800"/>
                        <a:t>BUSALA LAXMI PRAVEEN</a:t>
                      </a:r>
                      <a:endParaRPr sz="1800"/>
                    </a:p>
                  </a:txBody>
                  <a:tcPr marL="91450" marR="91450" marT="45725" marB="45725">
                    <a:solidFill>
                      <a:srgbClr val="E4EBF7"/>
                    </a:solidFill>
                  </a:tcPr>
                </a:tc>
                <a:tc>
                  <a:txBody>
                    <a:bodyPr/>
                    <a:lstStyle/>
                    <a:p>
                      <a:pPr marL="0" marR="0" lvl="0" indent="0" algn="l" rtl="0">
                        <a:spcBef>
                          <a:spcPts val="0"/>
                        </a:spcBef>
                        <a:spcAft>
                          <a:spcPts val="0"/>
                        </a:spcAft>
                        <a:buNone/>
                      </a:pPr>
                      <a:r>
                        <a:rPr lang="en-US" sz="1800"/>
                        <a:t>2520030406</a:t>
                      </a:r>
                      <a:endParaRPr/>
                    </a:p>
                  </a:txBody>
                  <a:tcPr marL="91450" marR="91450" marT="45725" marB="45725">
                    <a:solidFill>
                      <a:srgbClr val="E4EBF7"/>
                    </a:solidFill>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KAMMILI SATYA CHARAN</a:t>
                      </a:r>
                      <a:endParaRPr/>
                    </a:p>
                  </a:txBody>
                  <a:tcPr marL="91450" marR="91450" marT="45725" marB="45725">
                    <a:solidFill>
                      <a:srgbClr val="E4EBF7"/>
                    </a:solidFill>
                  </a:tcPr>
                </a:tc>
                <a:tc>
                  <a:txBody>
                    <a:bodyPr/>
                    <a:lstStyle/>
                    <a:p>
                      <a:pPr marL="0" lvl="0" indent="0" algn="l" rtl="0">
                        <a:spcBef>
                          <a:spcPts val="0"/>
                        </a:spcBef>
                        <a:spcAft>
                          <a:spcPts val="0"/>
                        </a:spcAft>
                        <a:buNone/>
                      </a:pPr>
                      <a:r>
                        <a:rPr lang="en-US" sz="1800"/>
                        <a:t>2520030368</a:t>
                      </a:r>
                      <a:endParaRPr sz="1800"/>
                    </a:p>
                  </a:txBody>
                  <a:tcPr marL="91450" marR="91450" marT="45725" marB="45725">
                    <a:solidFill>
                      <a:srgbClr val="E4EBF7"/>
                    </a:solidFill>
                  </a:tcPr>
                </a:tc>
                <a:extLst>
                  <a:ext uri="{0D108BD9-81ED-4DB2-BD59-A6C34878D82A}">
                    <a16:rowId xmlns:a16="http://schemas.microsoft.com/office/drawing/2014/main" val="10001"/>
                  </a:ext>
                </a:extLst>
              </a:tr>
              <a:tr h="370850">
                <a:tc>
                  <a:txBody>
                    <a:bodyPr/>
                    <a:lstStyle/>
                    <a:p>
                      <a:pPr marL="0" lvl="0" indent="0" algn="l" rtl="0">
                        <a:lnSpc>
                          <a:spcPct val="115000"/>
                        </a:lnSpc>
                        <a:spcBef>
                          <a:spcPts val="0"/>
                        </a:spcBef>
                        <a:spcAft>
                          <a:spcPts val="0"/>
                        </a:spcAft>
                        <a:buSzPts val="1100"/>
                        <a:buNone/>
                      </a:pPr>
                      <a:r>
                        <a:rPr lang="en-US" sz="1800"/>
                        <a:t>KUVIRA AMBALA</a:t>
                      </a:r>
                      <a:endParaRPr sz="1800"/>
                    </a:p>
                  </a:txBody>
                  <a:tcPr marL="91450" marR="91450" marT="45725" marB="45725">
                    <a:solidFill>
                      <a:srgbClr val="E4EBF7"/>
                    </a:solidFill>
                  </a:tcPr>
                </a:tc>
                <a:tc>
                  <a:txBody>
                    <a:bodyPr/>
                    <a:lstStyle/>
                    <a:p>
                      <a:pPr marL="0" lvl="0" indent="0" algn="l" rtl="0">
                        <a:lnSpc>
                          <a:spcPct val="115000"/>
                        </a:lnSpc>
                        <a:spcBef>
                          <a:spcPts val="0"/>
                        </a:spcBef>
                        <a:spcAft>
                          <a:spcPts val="0"/>
                        </a:spcAft>
                        <a:buSzPts val="1100"/>
                        <a:buNone/>
                      </a:pPr>
                      <a:r>
                        <a:rPr lang="en-US" sz="1800"/>
                        <a:t>2520030192 </a:t>
                      </a:r>
                      <a:endParaRPr sz="1800"/>
                    </a:p>
                  </a:txBody>
                  <a:tcPr marL="91450" marR="91450" marT="45725" marB="45725">
                    <a:solidFill>
                      <a:srgbClr val="E4EBF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6FB"/>
        </a:solidFill>
        <a:effectLst/>
      </p:bgPr>
    </p:bg>
    <p:spTree>
      <p:nvGrpSpPr>
        <p:cNvPr id="1" name="Shape 142"/>
        <p:cNvGrpSpPr/>
        <p:nvPr/>
      </p:nvGrpSpPr>
      <p:grpSpPr>
        <a:xfrm>
          <a:off x="0" y="0"/>
          <a:ext cx="0" cy="0"/>
          <a:chOff x="0" y="0"/>
          <a:chExt cx="0" cy="0"/>
        </a:xfrm>
      </p:grpSpPr>
      <p:sp>
        <p:nvSpPr>
          <p:cNvPr id="143" name="Google Shape;143;p20"/>
          <p:cNvSpPr txBox="1">
            <a:spLocks noGrp="1"/>
          </p:cNvSpPr>
          <p:nvPr>
            <p:ph type="title"/>
          </p:nvPr>
        </p:nvSpPr>
        <p:spPr>
          <a:xfrm>
            <a:off x="1424484" y="374681"/>
            <a:ext cx="9343030" cy="72669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4284B"/>
              </a:buClr>
              <a:buSzPts val="3200"/>
              <a:buFont typeface="Calibri"/>
              <a:buNone/>
            </a:pPr>
            <a:r>
              <a:rPr lang="en-US" sz="3200" b="1">
                <a:solidFill>
                  <a:srgbClr val="14284B"/>
                </a:solidFill>
              </a:rPr>
              <a:t>GROUP NUMBER: 1</a:t>
            </a:r>
            <a:endParaRPr sz="3200" b="1">
              <a:solidFill>
                <a:srgbClr val="14284B"/>
              </a:solidFill>
            </a:endParaRPr>
          </a:p>
        </p:txBody>
      </p:sp>
      <p:sp>
        <p:nvSpPr>
          <p:cNvPr id="144" name="Google Shape;14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45" name="Google Shape;145;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aphicFrame>
        <p:nvGraphicFramePr>
          <p:cNvPr id="146" name="Google Shape;146;p20"/>
          <p:cNvGraphicFramePr/>
          <p:nvPr/>
        </p:nvGraphicFramePr>
        <p:xfrm>
          <a:off x="838199" y="1416193"/>
          <a:ext cx="10515600" cy="2308000"/>
        </p:xfrm>
        <a:graphic>
          <a:graphicData uri="http://schemas.openxmlformats.org/drawingml/2006/table">
            <a:tbl>
              <a:tblPr firstRow="1" bandRow="1">
                <a:noFill/>
                <a:tableStyleId>{7AECD382-3CF4-4CC6-B9AF-01778B92ADE0}</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418450">
                <a:tc>
                  <a:txBody>
                    <a:bodyPr/>
                    <a:lstStyle/>
                    <a:p>
                      <a:pPr marL="0" marR="0" lvl="0" indent="0" algn="ctr" rtl="0">
                        <a:spcBef>
                          <a:spcPts val="0"/>
                        </a:spcBef>
                        <a:spcAft>
                          <a:spcPts val="0"/>
                        </a:spcAft>
                        <a:buNone/>
                      </a:pPr>
                      <a:r>
                        <a:rPr lang="en-US" sz="1800"/>
                        <a:t>Name of Candidate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4284B"/>
                    </a:solidFill>
                  </a:tcPr>
                </a:tc>
                <a:tc>
                  <a:txBody>
                    <a:bodyPr/>
                    <a:lstStyle/>
                    <a:p>
                      <a:pPr marL="0" marR="0" lvl="0" indent="0" algn="ctr" rtl="0">
                        <a:spcBef>
                          <a:spcPts val="0"/>
                        </a:spcBef>
                        <a:spcAft>
                          <a:spcPts val="0"/>
                        </a:spcAft>
                        <a:buNone/>
                      </a:pPr>
                      <a:r>
                        <a:rPr lang="en-US" sz="1800"/>
                        <a:t>Role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4284B"/>
                    </a:solidFill>
                  </a:tcPr>
                </a:tc>
                <a:extLst>
                  <a:ext uri="{0D108BD9-81ED-4DB2-BD59-A6C34878D82A}">
                    <a16:rowId xmlns:a16="http://schemas.microsoft.com/office/drawing/2014/main" val="10000"/>
                  </a:ext>
                </a:extLst>
              </a:tr>
              <a:tr h="629850">
                <a:tc>
                  <a:txBody>
                    <a:bodyPr/>
                    <a:lstStyle/>
                    <a:p>
                      <a:pPr marL="0" marR="0" lvl="0" indent="0" algn="l" rtl="0">
                        <a:spcBef>
                          <a:spcPts val="0"/>
                        </a:spcBef>
                        <a:spcAft>
                          <a:spcPts val="0"/>
                        </a:spcAft>
                        <a:buNone/>
                      </a:pPr>
                      <a:r>
                        <a:rPr lang="en-US" sz="1800"/>
                        <a:t>PRAVEEN BUSALA</a:t>
                      </a: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Database Design and SQL</a:t>
                      </a: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29850">
                <a:tc>
                  <a:txBody>
                    <a:bodyPr/>
                    <a:lstStyle/>
                    <a:p>
                      <a:pPr marL="0" marR="0" lvl="0" indent="0" algn="l" rtl="0">
                        <a:spcBef>
                          <a:spcPts val="0"/>
                        </a:spcBef>
                        <a:spcAft>
                          <a:spcPts val="0"/>
                        </a:spcAft>
                        <a:buNone/>
                      </a:pPr>
                      <a:r>
                        <a:rPr lang="en-US" sz="1800"/>
                        <a:t>KAMMILI SATYA CHARAN</a:t>
                      </a: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Backend / API Development</a:t>
                      </a: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29850">
                <a:tc>
                  <a:txBody>
                    <a:bodyPr/>
                    <a:lstStyle/>
                    <a:p>
                      <a:pPr marL="0" lvl="0" indent="0" algn="l" rtl="0">
                        <a:lnSpc>
                          <a:spcPct val="115000"/>
                        </a:lnSpc>
                        <a:spcBef>
                          <a:spcPts val="0"/>
                        </a:spcBef>
                        <a:spcAft>
                          <a:spcPts val="0"/>
                        </a:spcAft>
                        <a:buClr>
                          <a:schemeClr val="dk1"/>
                        </a:buClr>
                        <a:buSzPts val="1100"/>
                        <a:buFont typeface="Arial"/>
                        <a:buNone/>
                      </a:pPr>
                      <a:r>
                        <a:rPr lang="en-US" sz="1800"/>
                        <a:t>KUVIRA AMBALA</a:t>
                      </a: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Frontend / User Interface</a:t>
                      </a:r>
                      <a:endParaRPr sz="1800" b="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6FB"/>
        </a:solidFill>
        <a:effectLst/>
      </p:bgPr>
    </p:bg>
    <p:spTree>
      <p:nvGrpSpPr>
        <p:cNvPr id="1" name="Shape 151"/>
        <p:cNvGrpSpPr/>
        <p:nvPr/>
      </p:nvGrpSpPr>
      <p:grpSpPr>
        <a:xfrm>
          <a:off x="0" y="0"/>
          <a:ext cx="0" cy="0"/>
          <a:chOff x="0" y="0"/>
          <a:chExt cx="0" cy="0"/>
        </a:xfrm>
      </p:grpSpPr>
      <p:sp>
        <p:nvSpPr>
          <p:cNvPr id="900" name="Content Card"/>
          <p:cNvSpPr/>
          <p:nvPr/>
        </p:nvSpPr>
        <p:spPr>
          <a:xfrm>
            <a:off x="600000" y="1400000"/>
            <a:ext cx="10992000" cy="4900000"/>
          </a:xfrm>
          <a:prstGeom prst="roundRect">
            <a:avLst>
              <a:gd name="adj" fmla="val 3000"/>
            </a:avLst>
          </a:prstGeom>
          <a:solidFill>
            <a:srgbClr val="FFFFFF"/>
          </a:solidFill>
          <a:ln w="9525">
            <a:solidFill>
              <a:srgbClr val="D5DDEB"/>
            </a:solidFill>
          </a:ln>
          <a:effectLst>
            <a:outerShdw blurRad="76200" dist="25400" dir="5400000" algn="t" rotWithShape="0">
              <a:srgbClr val="14284B">
                <a:alpha val="15000"/>
              </a:srgbClr>
            </a:outerShdw>
          </a:effectLst>
        </p:spPr>
        <p:txBody>
          <a:bodyPr/>
          <a:lstStyle/>
          <a:p>
            <a:endParaRPr lang="en-US"/>
          </a:p>
        </p:txBody>
      </p:sp>
      <p:sp>
        <p:nvSpPr>
          <p:cNvPr id="152" name="Google Shape;152;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4284B"/>
              </a:buClr>
              <a:buSzPts val="3200"/>
              <a:buFont typeface="Calibri"/>
              <a:buNone/>
            </a:pPr>
            <a:r>
              <a:rPr lang="en-US" sz="3200" b="1">
                <a:solidFill>
                  <a:srgbClr val="14284B"/>
                </a:solidFill>
              </a:rPr>
              <a:t>ABSTRACT</a:t>
            </a:r>
            <a:endParaRPr/>
          </a:p>
        </p:txBody>
      </p:sp>
      <p:sp>
        <p:nvSpPr>
          <p:cNvPr id="153" name="Google Shape;15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54" name="Google Shape;15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55" name="Google Shape;155;p2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b="1"/>
              <a:t>Expense Splitter and Group Budget Manager</a:t>
            </a:r>
            <a:r>
              <a:rPr lang="en-US" sz="2300"/>
              <a:t> is a database-based application designed to help groups manage shared expenses and budgets in an organized way. It allows users to create groups, record expenses, track individual contributions, calculate the amount owed by each member, and monitor the group's budget.</a:t>
            </a:r>
            <a:endParaRPr sz="2300"/>
          </a:p>
          <a:p>
            <a:pPr marL="0" lvl="0" indent="0" algn="l" rtl="0">
              <a:lnSpc>
                <a:spcPct val="115000"/>
              </a:lnSpc>
              <a:spcBef>
                <a:spcPts val="1200"/>
              </a:spcBef>
              <a:spcAft>
                <a:spcPts val="0"/>
              </a:spcAft>
              <a:buClr>
                <a:schemeClr val="dk1"/>
              </a:buClr>
              <a:buSzPts val="1100"/>
              <a:buFont typeface="Arial"/>
              <a:buNone/>
            </a:pPr>
            <a:r>
              <a:rPr lang="en-US" sz="2300"/>
              <a:t>The system uses a relational database to store users, groups, expenses, budgets, and settlements. SQL queries, relationships, constraints, joins, aggregation, and transactions will be used to maintain accurate and consistent data. A backend API will connect the database with the application and provide the required operations to users.</a:t>
            </a:r>
            <a:endParaRPr sz="2300"/>
          </a:p>
          <a:p>
            <a:pPr marL="177800" lvl="0" indent="0" algn="l" rtl="0">
              <a:lnSpc>
                <a:spcPct val="90000"/>
              </a:lnSpc>
              <a:spcBef>
                <a:spcPts val="1200"/>
              </a:spcBef>
              <a:spcAft>
                <a:spcPts val="0"/>
              </a:spcAft>
              <a:buClr>
                <a:schemeClr val="dk1"/>
              </a:buClr>
              <a:buSzPts val="2800"/>
              <a:buNone/>
            </a:pPr>
            <a:endParaRPr sz="2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6FB"/>
        </a:solidFill>
        <a:effectLst/>
      </p:bgPr>
    </p:bg>
    <p:spTree>
      <p:nvGrpSpPr>
        <p:cNvPr id="1" name="Shape 160"/>
        <p:cNvGrpSpPr/>
        <p:nvPr/>
      </p:nvGrpSpPr>
      <p:grpSpPr>
        <a:xfrm>
          <a:off x="0" y="0"/>
          <a:ext cx="0" cy="0"/>
          <a:chOff x="0" y="0"/>
          <a:chExt cx="0" cy="0"/>
        </a:xfrm>
      </p:grpSpPr>
      <p:sp>
        <p:nvSpPr>
          <p:cNvPr id="900" name="Content Card"/>
          <p:cNvSpPr/>
          <p:nvPr/>
        </p:nvSpPr>
        <p:spPr>
          <a:xfrm>
            <a:off x="600000" y="1400000"/>
            <a:ext cx="10992000" cy="4900000"/>
          </a:xfrm>
          <a:prstGeom prst="roundRect">
            <a:avLst>
              <a:gd name="adj" fmla="val 3000"/>
            </a:avLst>
          </a:prstGeom>
          <a:solidFill>
            <a:srgbClr val="FFFFFF"/>
          </a:solidFill>
          <a:ln w="9525">
            <a:solidFill>
              <a:srgbClr val="D5DDEB"/>
            </a:solidFill>
          </a:ln>
          <a:effectLst>
            <a:outerShdw blurRad="76200" dist="25400" dir="5400000" algn="t" rotWithShape="0">
              <a:srgbClr val="14284B">
                <a:alpha val="15000"/>
              </a:srgbClr>
            </a:outerShdw>
          </a:effectLst>
        </p:spPr>
        <p:txBody>
          <a:bodyPr/>
          <a:lstStyle/>
          <a:p>
            <a:endParaRPr lang="en-US"/>
          </a:p>
        </p:txBody>
      </p:sp>
      <p:sp>
        <p:nvSpPr>
          <p:cNvPr id="161" name="Google Shape;161;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4284B"/>
              </a:buClr>
              <a:buSzPts val="3200"/>
              <a:buFont typeface="Calibri"/>
              <a:buNone/>
            </a:pPr>
            <a:r>
              <a:rPr lang="en-US" sz="3200" b="1">
                <a:solidFill>
                  <a:srgbClr val="14284B"/>
                </a:solidFill>
              </a:rPr>
              <a:t>INTRODUCTION</a:t>
            </a:r>
            <a:endParaRPr sz="3200">
              <a:solidFill>
                <a:srgbClr val="14284B"/>
              </a:solidFill>
            </a:endParaRPr>
          </a:p>
        </p:txBody>
      </p:sp>
      <p:sp>
        <p:nvSpPr>
          <p:cNvPr id="162" name="Google Shape;16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63" name="Google Shape;16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64" name="Google Shape;164;p22"/>
          <p:cNvSpPr txBox="1">
            <a:spLocks noGrp="1"/>
          </p:cNvSpPr>
          <p:nvPr>
            <p:ph type="body" idx="1"/>
          </p:nvPr>
        </p:nvSpPr>
        <p:spPr>
          <a:xfrm>
            <a:off x="765048" y="1400000"/>
            <a:ext cx="10515600" cy="4351200"/>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lnSpc>
                <a:spcPct val="115000"/>
              </a:lnSpc>
              <a:spcBef>
                <a:spcPts val="1200"/>
              </a:spcBef>
              <a:spcAft>
                <a:spcPts val="0"/>
              </a:spcAft>
              <a:buClr>
                <a:schemeClr val="dk1"/>
              </a:buClr>
              <a:buSzPts val="275"/>
              <a:buFont typeface="Arial"/>
              <a:buNone/>
            </a:pPr>
            <a:r>
              <a:rPr lang="en-US" sz="7200" dirty="0"/>
              <a:t>Managing expenses in a group can become difficult when many people contribute different amounts at different times.</a:t>
            </a:r>
            <a:endParaRPr sz="7200" dirty="0"/>
          </a:p>
          <a:p>
            <a:pPr marL="0" lvl="0" indent="0" algn="l" rtl="0">
              <a:lnSpc>
                <a:spcPct val="115000"/>
              </a:lnSpc>
              <a:spcBef>
                <a:spcPts val="1200"/>
              </a:spcBef>
              <a:spcAft>
                <a:spcPts val="0"/>
              </a:spcAft>
              <a:buClr>
                <a:schemeClr val="dk1"/>
              </a:buClr>
              <a:buSzPts val="275"/>
              <a:buFont typeface="Arial"/>
              <a:buNone/>
            </a:pPr>
            <a:r>
              <a:rPr lang="en-US" sz="7200" dirty="0"/>
              <a:t>Common situations include:</a:t>
            </a:r>
            <a:endParaRPr sz="7200" dirty="0"/>
          </a:p>
          <a:p>
            <a:pPr marL="457200" lvl="0" indent="-342900" algn="l" rtl="0">
              <a:lnSpc>
                <a:spcPct val="115000"/>
              </a:lnSpc>
              <a:spcBef>
                <a:spcPts val="1200"/>
              </a:spcBef>
              <a:spcAft>
                <a:spcPts val="0"/>
              </a:spcAft>
              <a:buClr>
                <a:srgbClr val="C8102E"/>
              </a:buClr>
              <a:buSzPct val="100000"/>
              <a:buFont typeface="Calibri"/>
              <a:buChar char="●"/>
            </a:pPr>
            <a:r>
              <a:rPr lang="en-US" sz="7200" dirty="0"/>
              <a:t>College trips</a:t>
            </a:r>
            <a:endParaRPr sz="7200" dirty="0"/>
          </a:p>
          <a:p>
            <a:pPr marL="457200" lvl="0" indent="-342900" algn="l" rtl="0">
              <a:lnSpc>
                <a:spcPct val="115000"/>
              </a:lnSpc>
              <a:spcBef>
                <a:spcPts val="0"/>
              </a:spcBef>
              <a:spcAft>
                <a:spcPts val="0"/>
              </a:spcAft>
              <a:buClr>
                <a:srgbClr val="C8102E"/>
              </a:buClr>
              <a:buSzPct val="100000"/>
              <a:buFont typeface="Calibri"/>
              <a:buChar char="●"/>
            </a:pPr>
            <a:r>
              <a:rPr lang="en-US" sz="7200" dirty="0"/>
              <a:t>Roommates sharing expenses</a:t>
            </a:r>
            <a:endParaRPr sz="7200" dirty="0"/>
          </a:p>
          <a:p>
            <a:pPr marL="457200" lvl="0" indent="-342900" algn="l" rtl="0">
              <a:lnSpc>
                <a:spcPct val="115000"/>
              </a:lnSpc>
              <a:spcBef>
                <a:spcPts val="0"/>
              </a:spcBef>
              <a:spcAft>
                <a:spcPts val="0"/>
              </a:spcAft>
              <a:buClr>
                <a:srgbClr val="C8102E"/>
              </a:buClr>
              <a:buSzPct val="100000"/>
              <a:buFont typeface="Calibri"/>
              <a:buChar char="●"/>
            </a:pPr>
            <a:r>
              <a:rPr lang="en-US" sz="7200" dirty="0"/>
              <a:t>Group events</a:t>
            </a:r>
            <a:endParaRPr sz="7200" dirty="0"/>
          </a:p>
          <a:p>
            <a:pPr marL="457200" lvl="0" indent="-342900" algn="l" rtl="0">
              <a:lnSpc>
                <a:spcPct val="115000"/>
              </a:lnSpc>
              <a:spcBef>
                <a:spcPts val="0"/>
              </a:spcBef>
              <a:spcAft>
                <a:spcPts val="0"/>
              </a:spcAft>
              <a:buClr>
                <a:srgbClr val="C8102E"/>
              </a:buClr>
              <a:buSzPct val="100000"/>
              <a:buFont typeface="Calibri"/>
              <a:buChar char="●"/>
            </a:pPr>
            <a:r>
              <a:rPr lang="en-US" sz="7200" dirty="0"/>
              <a:t>Friends going on outings</a:t>
            </a:r>
            <a:endParaRPr sz="7200" dirty="0"/>
          </a:p>
          <a:p>
            <a:pPr marL="457200" lvl="0" indent="-342900" algn="l" rtl="0">
              <a:lnSpc>
                <a:spcPct val="115000"/>
              </a:lnSpc>
              <a:spcBef>
                <a:spcPts val="0"/>
              </a:spcBef>
              <a:spcAft>
                <a:spcPts val="0"/>
              </a:spcAft>
              <a:buClr>
                <a:srgbClr val="C8102E"/>
              </a:buClr>
              <a:buSzPct val="100000"/>
              <a:buFont typeface="Calibri"/>
              <a:buChar char="●"/>
            </a:pPr>
            <a:r>
              <a:rPr lang="en-US" sz="7200" dirty="0"/>
              <a:t>Team activities</a:t>
            </a:r>
            <a:endParaRPr sz="7200" dirty="0"/>
          </a:p>
          <a:p>
            <a:pPr marL="0" lvl="0" indent="0" algn="l" rtl="0">
              <a:lnSpc>
                <a:spcPct val="115000"/>
              </a:lnSpc>
              <a:spcBef>
                <a:spcPts val="1200"/>
              </a:spcBef>
              <a:spcAft>
                <a:spcPts val="0"/>
              </a:spcAft>
              <a:buClr>
                <a:schemeClr val="dk1"/>
              </a:buClr>
              <a:buSzPts val="275"/>
              <a:buFont typeface="Arial"/>
              <a:buNone/>
            </a:pPr>
            <a:r>
              <a:rPr lang="en-US" sz="7200" dirty="0"/>
              <a:t>Our system provides a centralized platform where group members can:</a:t>
            </a:r>
            <a:endParaRPr sz="7200" dirty="0"/>
          </a:p>
          <a:p>
            <a:pPr marL="457200" lvl="0" indent="-342900" algn="l" rtl="0">
              <a:lnSpc>
                <a:spcPct val="115000"/>
              </a:lnSpc>
              <a:spcBef>
                <a:spcPts val="1200"/>
              </a:spcBef>
              <a:spcAft>
                <a:spcPts val="0"/>
              </a:spcAft>
              <a:buClr>
                <a:srgbClr val="C8102E"/>
              </a:buClr>
              <a:buSzPct val="100000"/>
              <a:buFont typeface="Calibri"/>
              <a:buChar char="●"/>
            </a:pPr>
            <a:r>
              <a:rPr lang="en-US" sz="7200" dirty="0"/>
              <a:t>Record shared expenses</a:t>
            </a:r>
            <a:endParaRPr sz="7200" dirty="0"/>
          </a:p>
          <a:p>
            <a:pPr marL="457200" lvl="0" indent="-342900" algn="l" rtl="0">
              <a:lnSpc>
                <a:spcPct val="115000"/>
              </a:lnSpc>
              <a:spcBef>
                <a:spcPts val="0"/>
              </a:spcBef>
              <a:spcAft>
                <a:spcPts val="0"/>
              </a:spcAft>
              <a:buClr>
                <a:srgbClr val="C8102E"/>
              </a:buClr>
              <a:buSzPct val="100000"/>
              <a:buFont typeface="Calibri"/>
              <a:buChar char="●"/>
            </a:pPr>
            <a:r>
              <a:rPr lang="en-US" sz="7200" dirty="0"/>
              <a:t>Track who paid</a:t>
            </a:r>
            <a:endParaRPr sz="7200" dirty="0"/>
          </a:p>
          <a:p>
            <a:pPr marL="457200" lvl="0" indent="-342900" algn="l" rtl="0">
              <a:lnSpc>
                <a:spcPct val="115000"/>
              </a:lnSpc>
              <a:spcBef>
                <a:spcPts val="0"/>
              </a:spcBef>
              <a:spcAft>
                <a:spcPts val="0"/>
              </a:spcAft>
              <a:buClr>
                <a:srgbClr val="C8102E"/>
              </a:buClr>
              <a:buSzPct val="100000"/>
              <a:buFont typeface="Calibri"/>
              <a:buChar char="●"/>
            </a:pPr>
            <a:r>
              <a:rPr lang="en-US" sz="7200" dirty="0"/>
              <a:t>Calculate individual shares</a:t>
            </a:r>
            <a:endParaRPr sz="7200" dirty="0"/>
          </a:p>
          <a:p>
            <a:pPr marL="457200" lvl="0" indent="-342900" algn="l" rtl="0">
              <a:lnSpc>
                <a:spcPct val="115000"/>
              </a:lnSpc>
              <a:spcBef>
                <a:spcPts val="0"/>
              </a:spcBef>
              <a:spcAft>
                <a:spcPts val="0"/>
              </a:spcAft>
              <a:buClr>
                <a:srgbClr val="C8102E"/>
              </a:buClr>
              <a:buSzPct val="100000"/>
              <a:buFont typeface="Calibri"/>
              <a:buChar char="●"/>
            </a:pPr>
            <a:r>
              <a:rPr lang="en-US" sz="7200" dirty="0"/>
              <a:t>Monitor the group budget</a:t>
            </a:r>
            <a:endParaRPr sz="7200" dirty="0"/>
          </a:p>
          <a:p>
            <a:pPr marL="457200" lvl="0" indent="-342900" algn="l" rtl="0">
              <a:lnSpc>
                <a:spcPct val="115000"/>
              </a:lnSpc>
              <a:spcBef>
                <a:spcPts val="0"/>
              </a:spcBef>
              <a:spcAft>
                <a:spcPts val="0"/>
              </a:spcAft>
              <a:buClr>
                <a:srgbClr val="C8102E"/>
              </a:buClr>
              <a:buSzPct val="100000"/>
              <a:buFont typeface="Calibri"/>
              <a:buChar char="●"/>
            </a:pPr>
            <a:r>
              <a:rPr lang="en-US" sz="7200" dirty="0"/>
              <a:t>Track pending settlements</a:t>
            </a:r>
            <a:endParaRPr sz="7200" dirty="0"/>
          </a:p>
          <a:p>
            <a:pPr marL="0" lvl="0" indent="0" algn="l" rtl="0">
              <a:lnSpc>
                <a:spcPct val="115000"/>
              </a:lnSpc>
              <a:spcBef>
                <a:spcPts val="1200"/>
              </a:spcBef>
              <a:spcAft>
                <a:spcPts val="0"/>
              </a:spcAft>
              <a:buClr>
                <a:schemeClr val="dk1"/>
              </a:buClr>
              <a:buSzPts val="275"/>
              <a:buFont typeface="Arial"/>
              <a:buNone/>
            </a:pPr>
            <a:r>
              <a:rPr lang="en-US" sz="7200" dirty="0"/>
              <a:t>The project mainly focuses on </a:t>
            </a:r>
            <a:r>
              <a:rPr lang="en-US" sz="7200" b="1" dirty="0"/>
              <a:t>database design and backend development</a:t>
            </a:r>
            <a:r>
              <a:rPr lang="en-US" sz="7200" dirty="0"/>
              <a:t>.</a:t>
            </a:r>
            <a:endParaRPr sz="7200" dirty="0"/>
          </a:p>
          <a:p>
            <a:pPr marL="228600" lvl="0" indent="-50800" algn="l" rtl="0">
              <a:lnSpc>
                <a:spcPct val="90000"/>
              </a:lnSpc>
              <a:spcBef>
                <a:spcPts val="1200"/>
              </a:spcBef>
              <a:spcAft>
                <a:spcPts val="0"/>
              </a:spcAft>
              <a:buClr>
                <a:schemeClr val="dk1"/>
              </a:buClr>
              <a:buSzPct val="1000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6FB"/>
        </a:solidFill>
        <a:effectLst/>
      </p:bgPr>
    </p:bg>
    <p:spTree>
      <p:nvGrpSpPr>
        <p:cNvPr id="1" name="Shape 169"/>
        <p:cNvGrpSpPr/>
        <p:nvPr/>
      </p:nvGrpSpPr>
      <p:grpSpPr>
        <a:xfrm>
          <a:off x="0" y="0"/>
          <a:ext cx="0" cy="0"/>
          <a:chOff x="0" y="0"/>
          <a:chExt cx="0" cy="0"/>
        </a:xfrm>
      </p:grpSpPr>
      <p:sp>
        <p:nvSpPr>
          <p:cNvPr id="900" name="Content Card"/>
          <p:cNvSpPr/>
          <p:nvPr/>
        </p:nvSpPr>
        <p:spPr>
          <a:xfrm>
            <a:off x="600000" y="1400000"/>
            <a:ext cx="10992000" cy="4900000"/>
          </a:xfrm>
          <a:prstGeom prst="roundRect">
            <a:avLst>
              <a:gd name="adj" fmla="val 3000"/>
            </a:avLst>
          </a:prstGeom>
          <a:solidFill>
            <a:srgbClr val="FFFFFF"/>
          </a:solidFill>
          <a:ln w="9525">
            <a:solidFill>
              <a:srgbClr val="D5DDEB"/>
            </a:solidFill>
          </a:ln>
          <a:effectLst>
            <a:outerShdw blurRad="76200" dist="25400" dir="5400000" algn="t" rotWithShape="0">
              <a:srgbClr val="14284B">
                <a:alpha val="15000"/>
              </a:srgbClr>
            </a:outerShdw>
          </a:effectLst>
        </p:spPr>
        <p:txBody>
          <a:bodyPr/>
          <a:lstStyle/>
          <a:p>
            <a:endParaRPr lang="en-US"/>
          </a:p>
        </p:txBody>
      </p:sp>
      <p:sp>
        <p:nvSpPr>
          <p:cNvPr id="170" name="Google Shape;17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4284B"/>
              </a:buClr>
              <a:buSzPts val="3200"/>
              <a:buFont typeface="Calibri"/>
              <a:buNone/>
            </a:pPr>
            <a:r>
              <a:rPr lang="en-US" sz="3200" b="1">
                <a:solidFill>
                  <a:srgbClr val="14284B"/>
                </a:solidFill>
              </a:rPr>
              <a:t>EXISTING SYSTEM</a:t>
            </a:r>
            <a:endParaRPr sz="3200">
              <a:solidFill>
                <a:srgbClr val="14284B"/>
              </a:solidFill>
            </a:endParaRPr>
          </a:p>
        </p:txBody>
      </p:sp>
      <p:sp>
        <p:nvSpPr>
          <p:cNvPr id="171" name="Google Shape;1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72" name="Google Shape;1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73" name="Google Shape;173;p23"/>
          <p:cNvSpPr txBox="1">
            <a:spLocks noGrp="1"/>
          </p:cNvSpPr>
          <p:nvPr>
            <p:ph type="body" idx="1"/>
          </p:nvPr>
        </p:nvSpPr>
        <p:spPr>
          <a:xfrm>
            <a:off x="759625" y="2414825"/>
            <a:ext cx="4959300" cy="2510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200" b="1" u="sng"/>
              <a:t>Currently, people commonly use:</a:t>
            </a:r>
            <a:endParaRPr sz="2200" b="1" u="sng"/>
          </a:p>
          <a:p>
            <a:pPr marL="457200" lvl="0" indent="-368300" algn="l" rtl="0">
              <a:lnSpc>
                <a:spcPct val="115000"/>
              </a:lnSpc>
              <a:spcBef>
                <a:spcPts val="1200"/>
              </a:spcBef>
              <a:spcAft>
                <a:spcPts val="0"/>
              </a:spcAft>
              <a:buClr>
                <a:srgbClr val="C8102E"/>
              </a:buClr>
              <a:buSzPts val="2200"/>
              <a:buFont typeface="Calibri"/>
              <a:buChar char="●"/>
            </a:pPr>
            <a:r>
              <a:rPr lang="en-US" sz="2200"/>
              <a:t>Manual calculations</a:t>
            </a:r>
            <a:endParaRPr sz="2200"/>
          </a:p>
          <a:p>
            <a:pPr marL="457200" lvl="0" indent="-368300" algn="l" rtl="0">
              <a:lnSpc>
                <a:spcPct val="115000"/>
              </a:lnSpc>
              <a:spcBef>
                <a:spcPts val="0"/>
              </a:spcBef>
              <a:spcAft>
                <a:spcPts val="0"/>
              </a:spcAft>
              <a:buClr>
                <a:srgbClr val="C8102E"/>
              </a:buClr>
              <a:buSzPts val="2200"/>
              <a:buFont typeface="Calibri"/>
              <a:buChar char="●"/>
            </a:pPr>
            <a:r>
              <a:rPr lang="en-US" sz="2200"/>
              <a:t>Notes or spreadsheets</a:t>
            </a:r>
            <a:endParaRPr sz="2200"/>
          </a:p>
          <a:p>
            <a:pPr marL="457200" lvl="0" indent="-368300" algn="l" rtl="0">
              <a:lnSpc>
                <a:spcPct val="115000"/>
              </a:lnSpc>
              <a:spcBef>
                <a:spcPts val="0"/>
              </a:spcBef>
              <a:spcAft>
                <a:spcPts val="0"/>
              </a:spcAft>
              <a:buClr>
                <a:srgbClr val="C8102E"/>
              </a:buClr>
              <a:buSzPts val="2200"/>
              <a:buFont typeface="Calibri"/>
              <a:buChar char="●"/>
            </a:pPr>
            <a:r>
              <a:rPr lang="en-US" sz="2200"/>
              <a:t>Chat messages</a:t>
            </a:r>
            <a:endParaRPr sz="2200"/>
          </a:p>
          <a:p>
            <a:pPr marL="457200" lvl="0" indent="-368300" algn="l" rtl="0">
              <a:lnSpc>
                <a:spcPct val="115000"/>
              </a:lnSpc>
              <a:spcBef>
                <a:spcPts val="0"/>
              </a:spcBef>
              <a:spcAft>
                <a:spcPts val="0"/>
              </a:spcAft>
              <a:buClr>
                <a:srgbClr val="C8102E"/>
              </a:buClr>
              <a:buSzPts val="2200"/>
              <a:buFont typeface="Calibri"/>
              <a:buChar char="●"/>
            </a:pPr>
            <a:r>
              <a:rPr lang="en-US" sz="2200"/>
              <a:t>Separate payment records</a:t>
            </a:r>
            <a:endParaRPr sz="2200"/>
          </a:p>
          <a:p>
            <a:pPr marL="457200" lvl="0" indent="-368300" algn="l" rtl="0">
              <a:lnSpc>
                <a:spcPct val="115000"/>
              </a:lnSpc>
              <a:spcBef>
                <a:spcPts val="0"/>
              </a:spcBef>
              <a:spcAft>
                <a:spcPts val="0"/>
              </a:spcAft>
              <a:buClr>
                <a:srgbClr val="C8102E"/>
              </a:buClr>
              <a:buSzPts val="2200"/>
              <a:buFont typeface="Calibri"/>
              <a:buChar char="●"/>
            </a:pPr>
            <a:r>
              <a:rPr lang="en-US" sz="2200"/>
              <a:t>Basic expense-splitting applications</a:t>
            </a:r>
            <a:endParaRPr sz="2200"/>
          </a:p>
          <a:p>
            <a:pPr marL="228600" lvl="0" indent="-50800" algn="l" rtl="0">
              <a:lnSpc>
                <a:spcPct val="90000"/>
              </a:lnSpc>
              <a:spcBef>
                <a:spcPts val="1200"/>
              </a:spcBef>
              <a:spcAft>
                <a:spcPts val="0"/>
              </a:spcAft>
              <a:buClr>
                <a:schemeClr val="dk1"/>
              </a:buClr>
              <a:buSzPts val="2800"/>
              <a:buNone/>
            </a:pPr>
            <a:endParaRPr sz="2200"/>
          </a:p>
        </p:txBody>
      </p:sp>
      <p:sp>
        <p:nvSpPr>
          <p:cNvPr id="174" name="Google Shape;174;p23"/>
          <p:cNvSpPr txBox="1">
            <a:spLocks noGrp="1"/>
          </p:cNvSpPr>
          <p:nvPr>
            <p:ph type="body" idx="1"/>
          </p:nvPr>
        </p:nvSpPr>
        <p:spPr>
          <a:xfrm>
            <a:off x="6394500" y="2414825"/>
            <a:ext cx="4959300" cy="2510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2000" b="1" u="sng"/>
              <a:t>Limitations: </a:t>
            </a:r>
            <a:endParaRPr sz="2000" b="1" u="sng"/>
          </a:p>
          <a:p>
            <a:pPr marL="457200" lvl="0" indent="-355600" algn="l" rtl="0">
              <a:lnSpc>
                <a:spcPct val="115000"/>
              </a:lnSpc>
              <a:spcBef>
                <a:spcPts val="1200"/>
              </a:spcBef>
              <a:spcAft>
                <a:spcPts val="0"/>
              </a:spcAft>
              <a:buClr>
                <a:srgbClr val="C8102E"/>
              </a:buClr>
              <a:buSzPts val="2000"/>
              <a:buFont typeface="Calibri"/>
              <a:buChar char="●"/>
            </a:pPr>
            <a:r>
              <a:rPr lang="en-US" sz="2000"/>
              <a:t>Difficult to track multiple expenses</a:t>
            </a:r>
            <a:endParaRPr sz="2000"/>
          </a:p>
          <a:p>
            <a:pPr marL="457200" lvl="0" indent="-355600" algn="l" rtl="0">
              <a:lnSpc>
                <a:spcPct val="115000"/>
              </a:lnSpc>
              <a:spcBef>
                <a:spcPts val="0"/>
              </a:spcBef>
              <a:spcAft>
                <a:spcPts val="0"/>
              </a:spcAft>
              <a:buClr>
                <a:srgbClr val="C8102E"/>
              </a:buClr>
              <a:buSzPts val="2000"/>
              <a:buFont typeface="Calibri"/>
              <a:buChar char="●"/>
            </a:pPr>
            <a:r>
              <a:rPr lang="en-US" sz="2000"/>
              <a:t>Manual calculations can lead to mistakes</a:t>
            </a:r>
            <a:endParaRPr sz="2000"/>
          </a:p>
          <a:p>
            <a:pPr marL="457200" lvl="0" indent="-355600" algn="l" rtl="0">
              <a:lnSpc>
                <a:spcPct val="115000"/>
              </a:lnSpc>
              <a:spcBef>
                <a:spcPts val="0"/>
              </a:spcBef>
              <a:spcAft>
                <a:spcPts val="0"/>
              </a:spcAft>
              <a:buClr>
                <a:srgbClr val="C8102E"/>
              </a:buClr>
              <a:buSzPts val="2000"/>
              <a:buFont typeface="Calibri"/>
              <a:buChar char="●"/>
            </a:pPr>
            <a:r>
              <a:rPr lang="en-US" sz="2000"/>
              <a:t>No centralized group budget management</a:t>
            </a:r>
            <a:endParaRPr sz="2000"/>
          </a:p>
          <a:p>
            <a:pPr marL="457200" lvl="0" indent="-355600" algn="l" rtl="0">
              <a:lnSpc>
                <a:spcPct val="115000"/>
              </a:lnSpc>
              <a:spcBef>
                <a:spcPts val="0"/>
              </a:spcBef>
              <a:spcAft>
                <a:spcPts val="0"/>
              </a:spcAft>
              <a:buClr>
                <a:srgbClr val="C8102E"/>
              </a:buClr>
              <a:buSzPts val="2000"/>
              <a:buFont typeface="Calibri"/>
              <a:buChar char="●"/>
            </a:pPr>
            <a:r>
              <a:rPr lang="en-US" sz="2000"/>
              <a:t>Difficult to identify pending payments</a:t>
            </a:r>
            <a:endParaRPr sz="2000"/>
          </a:p>
          <a:p>
            <a:pPr marL="457200" lvl="0" indent="-355600" algn="l" rtl="0">
              <a:lnSpc>
                <a:spcPct val="115000"/>
              </a:lnSpc>
              <a:spcBef>
                <a:spcPts val="0"/>
              </a:spcBef>
              <a:spcAft>
                <a:spcPts val="0"/>
              </a:spcAft>
              <a:buClr>
                <a:srgbClr val="C8102E"/>
              </a:buClr>
              <a:buSzPts val="2000"/>
              <a:buFont typeface="Calibri"/>
              <a:buChar char="●"/>
            </a:pPr>
            <a:r>
              <a:rPr lang="en-US" sz="2000"/>
              <a:t>Data may become inconsistent or duplicated</a:t>
            </a:r>
            <a:endParaRPr sz="2000"/>
          </a:p>
          <a:p>
            <a:pPr marL="457200" lvl="0" indent="0" algn="l" rtl="0">
              <a:lnSpc>
                <a:spcPct val="115000"/>
              </a:lnSpc>
              <a:spcBef>
                <a:spcPts val="1200"/>
              </a:spcBef>
              <a:spcAft>
                <a:spcPts val="0"/>
              </a:spcAft>
              <a:buNone/>
            </a:pPr>
            <a:endParaRPr sz="1900" b="1">
              <a:solidFill>
                <a:srgbClr val="000000"/>
              </a:solidFill>
              <a:latin typeface="Arial"/>
              <a:ea typeface="Arial"/>
              <a:cs typeface="Arial"/>
              <a:sym typeface="Arial"/>
            </a:endParaRPr>
          </a:p>
          <a:p>
            <a:pPr marL="228600" lvl="0" indent="-50800" algn="l" rtl="0">
              <a:spcBef>
                <a:spcPts val="1200"/>
              </a:spcBef>
              <a:spcAft>
                <a:spcPts val="0"/>
              </a:spcAft>
              <a:buClr>
                <a:schemeClr val="dk1"/>
              </a:buClr>
              <a:buSzPts val="2800"/>
              <a:buNone/>
            </a:pPr>
            <a:endParaRPr sz="1900">
              <a:solidFill>
                <a:srgbClr val="000000"/>
              </a:solidFill>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endParaRPr sz="19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6FB"/>
        </a:solidFill>
        <a:effectLst/>
      </p:bgPr>
    </p:bg>
    <p:spTree>
      <p:nvGrpSpPr>
        <p:cNvPr id="1" name="Shape 179"/>
        <p:cNvGrpSpPr/>
        <p:nvPr/>
      </p:nvGrpSpPr>
      <p:grpSpPr>
        <a:xfrm>
          <a:off x="0" y="0"/>
          <a:ext cx="0" cy="0"/>
          <a:chOff x="0" y="0"/>
          <a:chExt cx="0" cy="0"/>
        </a:xfrm>
      </p:grpSpPr>
      <p:sp>
        <p:nvSpPr>
          <p:cNvPr id="900" name="Content Card"/>
          <p:cNvSpPr/>
          <p:nvPr/>
        </p:nvSpPr>
        <p:spPr>
          <a:xfrm>
            <a:off x="600000" y="1300000"/>
            <a:ext cx="10992000" cy="5200000"/>
          </a:xfrm>
          <a:prstGeom prst="roundRect">
            <a:avLst>
              <a:gd name="adj" fmla="val 3000"/>
            </a:avLst>
          </a:prstGeom>
          <a:solidFill>
            <a:srgbClr val="FFFFFF"/>
          </a:solidFill>
          <a:ln w="9525">
            <a:solidFill>
              <a:srgbClr val="D5DDEB"/>
            </a:solidFill>
          </a:ln>
          <a:effectLst>
            <a:outerShdw blurRad="76200" dist="25400" dir="5400000" algn="t" rotWithShape="0">
              <a:srgbClr val="14284B">
                <a:alpha val="15000"/>
              </a:srgbClr>
            </a:outerShdw>
          </a:effectLst>
        </p:spPr>
        <p:txBody>
          <a:bodyPr/>
          <a:lstStyle/>
          <a:p>
            <a:endParaRPr lang="en-US"/>
          </a:p>
        </p:txBody>
      </p:sp>
      <p:sp>
        <p:nvSpPr>
          <p:cNvPr id="180" name="Google Shape;18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4284B"/>
              </a:buClr>
              <a:buSzPts val="3200"/>
              <a:buFont typeface="Calibri"/>
              <a:buNone/>
            </a:pPr>
            <a:r>
              <a:rPr lang="en-US" sz="3200" b="1">
                <a:solidFill>
                  <a:srgbClr val="14284B"/>
                </a:solidFill>
              </a:rPr>
              <a:t>PROBLEM</a:t>
            </a:r>
            <a:endParaRPr sz="3200">
              <a:solidFill>
                <a:srgbClr val="14284B"/>
              </a:solidFill>
            </a:endParaRPr>
          </a:p>
        </p:txBody>
      </p:sp>
      <p:sp>
        <p:nvSpPr>
          <p:cNvPr id="181" name="Google Shape;181;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82" name="Google Shape;182;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83" name="Google Shape;183;p24"/>
          <p:cNvSpPr txBox="1">
            <a:spLocks noGrp="1"/>
          </p:cNvSpPr>
          <p:nvPr>
            <p:ph type="body" idx="1"/>
          </p:nvPr>
        </p:nvSpPr>
        <p:spPr>
          <a:xfrm>
            <a:off x="838200" y="1537575"/>
            <a:ext cx="10515600" cy="4351338"/>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2200" b="1" dirty="0"/>
              <a:t>Problem Statement</a:t>
            </a:r>
            <a:endParaRPr sz="2200" b="1" dirty="0"/>
          </a:p>
          <a:p>
            <a:pPr marL="0" lvl="0" indent="0" algn="l" rtl="0">
              <a:lnSpc>
                <a:spcPct val="115000"/>
              </a:lnSpc>
              <a:spcBef>
                <a:spcPts val="1200"/>
              </a:spcBef>
              <a:spcAft>
                <a:spcPts val="0"/>
              </a:spcAft>
              <a:buClr>
                <a:schemeClr val="dk1"/>
              </a:buClr>
              <a:buSzPts val="1100"/>
              <a:buFont typeface="Arial"/>
              <a:buNone/>
            </a:pPr>
            <a:r>
              <a:rPr lang="en-US" sz="2000" dirty="0"/>
              <a:t>Managing shared expenses among multiple people becomes complicated when there are many transactions and different contributions.</a:t>
            </a:r>
            <a:endParaRPr sz="2000" dirty="0"/>
          </a:p>
          <a:p>
            <a:pPr marL="0" lvl="0" indent="0" algn="l" rtl="0">
              <a:lnSpc>
                <a:spcPct val="115000"/>
              </a:lnSpc>
              <a:spcBef>
                <a:spcPts val="1200"/>
              </a:spcBef>
              <a:spcAft>
                <a:spcPts val="0"/>
              </a:spcAft>
              <a:buClr>
                <a:schemeClr val="dk1"/>
              </a:buClr>
              <a:buSzPts val="1100"/>
              <a:buFont typeface="Arial"/>
              <a:buNone/>
            </a:pPr>
            <a:r>
              <a:rPr lang="en-US" sz="2000" dirty="0"/>
              <a:t>The system needs to answer questions such as:</a:t>
            </a:r>
            <a:endParaRPr sz="2000" dirty="0"/>
          </a:p>
          <a:p>
            <a:pPr marL="457200" lvl="0" indent="-355600" algn="l" rtl="0">
              <a:lnSpc>
                <a:spcPct val="115000"/>
              </a:lnSpc>
              <a:spcBef>
                <a:spcPts val="1200"/>
              </a:spcBef>
              <a:spcAft>
                <a:spcPts val="0"/>
              </a:spcAft>
              <a:buClr>
                <a:srgbClr val="C8102E"/>
              </a:buClr>
              <a:buSzPts val="2000"/>
              <a:buFont typeface="Calibri"/>
              <a:buChar char="●"/>
            </a:pPr>
            <a:r>
              <a:rPr lang="en-US" sz="2000" dirty="0"/>
              <a:t>Who paid for an expense?</a:t>
            </a:r>
            <a:endParaRPr sz="2000" dirty="0"/>
          </a:p>
          <a:p>
            <a:pPr marL="457200" lvl="0" indent="-355600" algn="l" rtl="0">
              <a:lnSpc>
                <a:spcPct val="115000"/>
              </a:lnSpc>
              <a:spcBef>
                <a:spcPts val="0"/>
              </a:spcBef>
              <a:spcAft>
                <a:spcPts val="0"/>
              </a:spcAft>
              <a:buClr>
                <a:srgbClr val="C8102E"/>
              </a:buClr>
              <a:buSzPts val="2000"/>
              <a:buFont typeface="Calibri"/>
              <a:buChar char="●"/>
            </a:pPr>
            <a:r>
              <a:rPr lang="en-US" sz="2000" dirty="0"/>
              <a:t>How much does each member owe?</a:t>
            </a:r>
            <a:endParaRPr sz="2000" dirty="0"/>
          </a:p>
          <a:p>
            <a:pPr marL="457200" lvl="0" indent="-355600" algn="l" rtl="0">
              <a:lnSpc>
                <a:spcPct val="115000"/>
              </a:lnSpc>
              <a:spcBef>
                <a:spcPts val="0"/>
              </a:spcBef>
              <a:spcAft>
                <a:spcPts val="0"/>
              </a:spcAft>
              <a:buClr>
                <a:srgbClr val="C8102E"/>
              </a:buClr>
              <a:buSzPts val="2000"/>
              <a:buFont typeface="Calibri"/>
              <a:buChar char="●"/>
            </a:pPr>
            <a:r>
              <a:rPr lang="en-US" sz="2000" dirty="0"/>
              <a:t>How much has each member already paid?</a:t>
            </a:r>
            <a:endParaRPr sz="2000" dirty="0"/>
          </a:p>
          <a:p>
            <a:pPr marL="457200" lvl="0" indent="-355600" algn="l" rtl="0">
              <a:lnSpc>
                <a:spcPct val="115000"/>
              </a:lnSpc>
              <a:spcBef>
                <a:spcPts val="0"/>
              </a:spcBef>
              <a:spcAft>
                <a:spcPts val="0"/>
              </a:spcAft>
              <a:buClr>
                <a:srgbClr val="C8102E"/>
              </a:buClr>
              <a:buSzPts val="2000"/>
              <a:buFont typeface="Calibri"/>
              <a:buChar char="●"/>
            </a:pPr>
            <a:r>
              <a:rPr lang="en-US" sz="2000" dirty="0"/>
              <a:t>What is the total group spending?</a:t>
            </a:r>
            <a:endParaRPr sz="2000" dirty="0"/>
          </a:p>
          <a:p>
            <a:pPr marL="457200" lvl="0" indent="-355600" algn="l" rtl="0">
              <a:lnSpc>
                <a:spcPct val="115000"/>
              </a:lnSpc>
              <a:spcBef>
                <a:spcPts val="0"/>
              </a:spcBef>
              <a:spcAft>
                <a:spcPts val="0"/>
              </a:spcAft>
              <a:buClr>
                <a:srgbClr val="C8102E"/>
              </a:buClr>
              <a:buSzPts val="2000"/>
              <a:buFont typeface="Calibri"/>
              <a:buChar char="●"/>
            </a:pPr>
            <a:r>
              <a:rPr lang="en-US" sz="2000" dirty="0"/>
              <a:t>How much of the budget is remaining?</a:t>
            </a:r>
            <a:endParaRPr sz="2000" dirty="0"/>
          </a:p>
          <a:p>
            <a:pPr marL="457200" lvl="0" indent="-355600" algn="l" rtl="0">
              <a:lnSpc>
                <a:spcPct val="115000"/>
              </a:lnSpc>
              <a:spcBef>
                <a:spcPts val="0"/>
              </a:spcBef>
              <a:spcAft>
                <a:spcPts val="0"/>
              </a:spcAft>
              <a:buClr>
                <a:srgbClr val="C8102E"/>
              </a:buClr>
              <a:buSzPts val="2000"/>
              <a:buFont typeface="Calibri"/>
              <a:buChar char="●"/>
            </a:pPr>
            <a:r>
              <a:rPr lang="en-US" sz="2000" dirty="0"/>
              <a:t>Which settlements are still pending?</a:t>
            </a:r>
            <a:endParaRPr sz="2000" dirty="0"/>
          </a:p>
          <a:p>
            <a:pPr marL="0" lvl="0" indent="0" algn="l" rtl="0">
              <a:lnSpc>
                <a:spcPct val="115000"/>
              </a:lnSpc>
              <a:spcBef>
                <a:spcPts val="1200"/>
              </a:spcBef>
              <a:spcAft>
                <a:spcPts val="0"/>
              </a:spcAft>
              <a:buClr>
                <a:schemeClr val="dk1"/>
              </a:buClr>
              <a:buSzPts val="1100"/>
              <a:buFont typeface="Arial"/>
              <a:buNone/>
            </a:pPr>
            <a:r>
              <a:rPr lang="en-US" sz="2000" dirty="0"/>
              <a:t>A structured database system is required to store and process this information reliably.</a:t>
            </a:r>
            <a:endParaRPr sz="2000" dirty="0"/>
          </a:p>
          <a:p>
            <a:pPr marL="228600" lvl="0" indent="-50800" algn="l" rtl="0">
              <a:lnSpc>
                <a:spcPct val="90000"/>
              </a:lnSpc>
              <a:spcBef>
                <a:spcPts val="1200"/>
              </a:spcBef>
              <a:spcAft>
                <a:spcPts val="0"/>
              </a:spcAft>
              <a:buClr>
                <a:schemeClr val="dk1"/>
              </a:buClr>
              <a:buSzPts val="2800"/>
              <a:buNone/>
            </a:pPr>
            <a:endParaRPr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6FB"/>
        </a:solidFill>
        <a:effectLst/>
      </p:bgPr>
    </p:bg>
    <p:spTree>
      <p:nvGrpSpPr>
        <p:cNvPr id="1" name="Shape 188"/>
        <p:cNvGrpSpPr/>
        <p:nvPr/>
      </p:nvGrpSpPr>
      <p:grpSpPr>
        <a:xfrm>
          <a:off x="0" y="0"/>
          <a:ext cx="0" cy="0"/>
          <a:chOff x="0" y="0"/>
          <a:chExt cx="0" cy="0"/>
        </a:xfrm>
      </p:grpSpPr>
      <p:sp>
        <p:nvSpPr>
          <p:cNvPr id="900" name="Content Card"/>
          <p:cNvSpPr/>
          <p:nvPr/>
        </p:nvSpPr>
        <p:spPr>
          <a:xfrm>
            <a:off x="600000" y="1400000"/>
            <a:ext cx="10992000" cy="4900000"/>
          </a:xfrm>
          <a:prstGeom prst="roundRect">
            <a:avLst>
              <a:gd name="adj" fmla="val 3000"/>
            </a:avLst>
          </a:prstGeom>
          <a:solidFill>
            <a:srgbClr val="FFFFFF"/>
          </a:solidFill>
          <a:ln w="9525">
            <a:solidFill>
              <a:srgbClr val="D5DDEB"/>
            </a:solidFill>
          </a:ln>
          <a:effectLst>
            <a:outerShdw blurRad="76200" dist="25400" dir="5400000" algn="t" rotWithShape="0">
              <a:srgbClr val="14284B">
                <a:alpha val="15000"/>
              </a:srgbClr>
            </a:outerShdw>
          </a:effectLst>
        </p:spPr>
        <p:txBody>
          <a:bodyPr/>
          <a:lstStyle/>
          <a:p>
            <a:endParaRPr lang="en-US"/>
          </a:p>
        </p:txBody>
      </p:sp>
      <p:sp>
        <p:nvSpPr>
          <p:cNvPr id="189" name="Google Shape;18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4284B"/>
              </a:buClr>
              <a:buSzPts val="3200"/>
              <a:buFont typeface="Calibri"/>
              <a:buNone/>
            </a:pPr>
            <a:r>
              <a:rPr lang="en-US" sz="3200" b="1" dirty="0">
                <a:solidFill>
                  <a:srgbClr val="14284B"/>
                </a:solidFill>
              </a:rPr>
              <a:t>SOLUTION </a:t>
            </a:r>
            <a:endParaRPr sz="3200" dirty="0">
              <a:solidFill>
                <a:srgbClr val="14284B"/>
              </a:solidFill>
            </a:endParaRPr>
          </a:p>
        </p:txBody>
      </p:sp>
      <p:sp>
        <p:nvSpPr>
          <p:cNvPr id="190" name="Google Shape;19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91" name="Google Shape;19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92" name="Google Shape;192;p25"/>
          <p:cNvSpPr txBox="1">
            <a:spLocks noGrp="1"/>
          </p:cNvSpPr>
          <p:nvPr>
            <p:ph type="body" idx="1"/>
          </p:nvPr>
        </p:nvSpPr>
        <p:spPr>
          <a:xfrm>
            <a:off x="838200" y="1436775"/>
            <a:ext cx="10515600" cy="43512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1400"/>
              </a:spcBef>
              <a:spcAft>
                <a:spcPts val="0"/>
              </a:spcAft>
              <a:buClr>
                <a:schemeClr val="dk1"/>
              </a:buClr>
              <a:buSzPts val="1100"/>
              <a:buFont typeface="Arial"/>
              <a:buNone/>
            </a:pPr>
            <a:r>
              <a:rPr lang="en-US" sz="1900" b="1"/>
              <a:t>Proposed Solution</a:t>
            </a:r>
            <a:endParaRPr sz="1900" b="1"/>
          </a:p>
          <a:p>
            <a:pPr marL="0" lvl="0" indent="0" algn="l" rtl="0">
              <a:lnSpc>
                <a:spcPct val="95000"/>
              </a:lnSpc>
              <a:spcBef>
                <a:spcPts val="1200"/>
              </a:spcBef>
              <a:spcAft>
                <a:spcPts val="0"/>
              </a:spcAft>
              <a:buClr>
                <a:schemeClr val="dk1"/>
              </a:buClr>
              <a:buSzPts val="1100"/>
              <a:buFont typeface="Arial"/>
              <a:buNone/>
            </a:pPr>
            <a:r>
              <a:rPr lang="en-US" sz="1700"/>
              <a:t>We propose a </a:t>
            </a:r>
            <a:r>
              <a:rPr lang="en-US" sz="1700" b="1"/>
              <a:t>centralized Expense Splitter and Group Budget Manager</a:t>
            </a:r>
            <a:r>
              <a:rPr lang="en-US" sz="1700"/>
              <a:t>.</a:t>
            </a:r>
            <a:endParaRPr sz="1700"/>
          </a:p>
          <a:p>
            <a:pPr marL="0" lvl="0" indent="0" algn="l" rtl="0">
              <a:lnSpc>
                <a:spcPct val="95000"/>
              </a:lnSpc>
              <a:spcBef>
                <a:spcPts val="1200"/>
              </a:spcBef>
              <a:spcAft>
                <a:spcPts val="0"/>
              </a:spcAft>
              <a:buClr>
                <a:schemeClr val="dk1"/>
              </a:buClr>
              <a:buSzPts val="1100"/>
              <a:buFont typeface="Arial"/>
              <a:buNone/>
            </a:pPr>
            <a:r>
              <a:rPr lang="en-US" sz="1700"/>
              <a:t>The system will:</a:t>
            </a:r>
            <a:endParaRPr sz="1700"/>
          </a:p>
          <a:p>
            <a:pPr marL="457200" lvl="0" indent="-336550" algn="l" rtl="0">
              <a:lnSpc>
                <a:spcPct val="95000"/>
              </a:lnSpc>
              <a:spcBef>
                <a:spcPts val="1200"/>
              </a:spcBef>
              <a:spcAft>
                <a:spcPts val="0"/>
              </a:spcAft>
              <a:buClr>
                <a:srgbClr val="C8102E"/>
              </a:buClr>
              <a:buSzPts val="1700"/>
              <a:buFont typeface="Calibri"/>
              <a:buChar char="●"/>
            </a:pPr>
            <a:r>
              <a:rPr lang="en-US" sz="1700"/>
              <a:t>Store user and group information</a:t>
            </a:r>
            <a:endParaRPr sz="1700"/>
          </a:p>
          <a:p>
            <a:pPr marL="457200" lvl="0" indent="-336550" algn="l" rtl="0">
              <a:lnSpc>
                <a:spcPct val="95000"/>
              </a:lnSpc>
              <a:spcBef>
                <a:spcPts val="0"/>
              </a:spcBef>
              <a:spcAft>
                <a:spcPts val="0"/>
              </a:spcAft>
              <a:buClr>
                <a:srgbClr val="C8102E"/>
              </a:buClr>
              <a:buSzPts val="1700"/>
              <a:buFont typeface="Calibri"/>
              <a:buChar char="●"/>
            </a:pPr>
            <a:r>
              <a:rPr lang="en-US" sz="1700"/>
              <a:t>Maintain group budgets</a:t>
            </a:r>
            <a:endParaRPr sz="1700"/>
          </a:p>
          <a:p>
            <a:pPr marL="457200" lvl="0" indent="-336550" algn="l" rtl="0">
              <a:lnSpc>
                <a:spcPct val="95000"/>
              </a:lnSpc>
              <a:spcBef>
                <a:spcPts val="0"/>
              </a:spcBef>
              <a:spcAft>
                <a:spcPts val="0"/>
              </a:spcAft>
              <a:buClr>
                <a:srgbClr val="C8102E"/>
              </a:buClr>
              <a:buSzPts val="1700"/>
              <a:buFont typeface="Calibri"/>
              <a:buChar char="●"/>
            </a:pPr>
            <a:r>
              <a:rPr lang="en-US" sz="1700"/>
              <a:t>Record individual expenses</a:t>
            </a:r>
            <a:endParaRPr sz="1700"/>
          </a:p>
          <a:p>
            <a:pPr marL="457200" lvl="0" indent="-336550" algn="l" rtl="0">
              <a:lnSpc>
                <a:spcPct val="95000"/>
              </a:lnSpc>
              <a:spcBef>
                <a:spcPts val="0"/>
              </a:spcBef>
              <a:spcAft>
                <a:spcPts val="0"/>
              </a:spcAft>
              <a:buClr>
                <a:srgbClr val="C8102E"/>
              </a:buClr>
              <a:buSzPts val="1700"/>
              <a:buFont typeface="Calibri"/>
              <a:buChar char="●"/>
            </a:pPr>
            <a:r>
              <a:rPr lang="en-US" sz="1700"/>
              <a:t>Associate expenses with group members</a:t>
            </a:r>
            <a:endParaRPr sz="1700"/>
          </a:p>
          <a:p>
            <a:pPr marL="457200" lvl="0" indent="-336550" algn="l" rtl="0">
              <a:lnSpc>
                <a:spcPct val="95000"/>
              </a:lnSpc>
              <a:spcBef>
                <a:spcPts val="0"/>
              </a:spcBef>
              <a:spcAft>
                <a:spcPts val="0"/>
              </a:spcAft>
              <a:buClr>
                <a:srgbClr val="C8102E"/>
              </a:buClr>
              <a:buSzPts val="1700"/>
              <a:buFont typeface="Calibri"/>
              <a:buChar char="●"/>
            </a:pPr>
            <a:r>
              <a:rPr lang="en-US" sz="1700"/>
              <a:t>Calculate individual shares</a:t>
            </a:r>
            <a:endParaRPr sz="1700"/>
          </a:p>
          <a:p>
            <a:pPr marL="457200" lvl="0" indent="-336550" algn="l" rtl="0">
              <a:lnSpc>
                <a:spcPct val="95000"/>
              </a:lnSpc>
              <a:spcBef>
                <a:spcPts val="0"/>
              </a:spcBef>
              <a:spcAft>
                <a:spcPts val="0"/>
              </a:spcAft>
              <a:buClr>
                <a:srgbClr val="C8102E"/>
              </a:buClr>
              <a:buSzPts val="1700"/>
              <a:buFont typeface="Calibri"/>
              <a:buChar char="●"/>
            </a:pPr>
            <a:r>
              <a:rPr lang="en-US" sz="1700"/>
              <a:t>Track payments and settlements</a:t>
            </a:r>
            <a:endParaRPr sz="1700"/>
          </a:p>
          <a:p>
            <a:pPr marL="457200" lvl="0" indent="-336550" algn="l" rtl="0">
              <a:lnSpc>
                <a:spcPct val="95000"/>
              </a:lnSpc>
              <a:spcBef>
                <a:spcPts val="0"/>
              </a:spcBef>
              <a:spcAft>
                <a:spcPts val="0"/>
              </a:spcAft>
              <a:buClr>
                <a:srgbClr val="C8102E"/>
              </a:buClr>
              <a:buSzPts val="1700"/>
              <a:buFont typeface="Calibri"/>
              <a:buChar char="●"/>
            </a:pPr>
            <a:r>
              <a:rPr lang="en-US" sz="1700"/>
              <a:t>Generate spending summaries</a:t>
            </a:r>
            <a:endParaRPr sz="1700"/>
          </a:p>
          <a:p>
            <a:pPr marL="457200" lvl="0" indent="-336550" algn="l" rtl="0">
              <a:lnSpc>
                <a:spcPct val="95000"/>
              </a:lnSpc>
              <a:spcBef>
                <a:spcPts val="0"/>
              </a:spcBef>
              <a:spcAft>
                <a:spcPts val="0"/>
              </a:spcAft>
              <a:buClr>
                <a:srgbClr val="C8102E"/>
              </a:buClr>
              <a:buSzPts val="1700"/>
              <a:buFont typeface="Calibri"/>
              <a:buChar char="●"/>
            </a:pPr>
            <a:r>
              <a:rPr lang="en-US" sz="1700"/>
              <a:t>Maintain data consistency using database constraints and transactions</a:t>
            </a:r>
            <a:endParaRPr sz="1700"/>
          </a:p>
          <a:p>
            <a:pPr marL="0" lvl="0" indent="0" algn="l" rtl="0">
              <a:lnSpc>
                <a:spcPct val="95000"/>
              </a:lnSpc>
              <a:spcBef>
                <a:spcPts val="1400"/>
              </a:spcBef>
              <a:spcAft>
                <a:spcPts val="0"/>
              </a:spcAft>
              <a:buClr>
                <a:schemeClr val="dk1"/>
              </a:buClr>
              <a:buSzPts val="1100"/>
              <a:buFont typeface="Arial"/>
              <a:buNone/>
            </a:pPr>
            <a:r>
              <a:rPr lang="en-US" sz="1900" b="1"/>
              <a:t>Technical Contribution</a:t>
            </a:r>
            <a:endParaRPr sz="1900" b="1"/>
          </a:p>
          <a:p>
            <a:pPr marL="0" lvl="0" indent="0" algn="l" rtl="0">
              <a:lnSpc>
                <a:spcPct val="95000"/>
              </a:lnSpc>
              <a:spcBef>
                <a:spcPts val="1200"/>
              </a:spcBef>
              <a:spcAft>
                <a:spcPts val="0"/>
              </a:spcAft>
              <a:buClr>
                <a:schemeClr val="dk1"/>
              </a:buClr>
              <a:buSzPts val="1100"/>
              <a:buFont typeface="Arial"/>
              <a:buNone/>
            </a:pPr>
            <a:r>
              <a:rPr lang="en-US" sz="1700"/>
              <a:t>The project will apply concepts from the course such as:</a:t>
            </a:r>
            <a:endParaRPr sz="1700"/>
          </a:p>
          <a:p>
            <a:pPr marL="0" lvl="0" indent="0" algn="l" rtl="0">
              <a:lnSpc>
                <a:spcPct val="95000"/>
              </a:lnSpc>
              <a:spcBef>
                <a:spcPts val="1200"/>
              </a:spcBef>
              <a:spcAft>
                <a:spcPts val="0"/>
              </a:spcAft>
              <a:buClr>
                <a:schemeClr val="dk1"/>
              </a:buClr>
              <a:buSzPts val="1100"/>
              <a:buFont typeface="Arial"/>
              <a:buNone/>
            </a:pPr>
            <a:r>
              <a:rPr lang="en-US" sz="1700" b="1"/>
              <a:t>ER Modelling → Relational Database → SQL → Backend API → Database Integration</a:t>
            </a:r>
            <a:endParaRPr sz="1700"/>
          </a:p>
          <a:p>
            <a:pPr marL="228600" lvl="0" indent="-50800" algn="l" rtl="0">
              <a:lnSpc>
                <a:spcPct val="70000"/>
              </a:lnSpc>
              <a:spcBef>
                <a:spcPts val="1200"/>
              </a:spcBef>
              <a:spcAft>
                <a:spcPts val="0"/>
              </a:spcAft>
              <a:buClr>
                <a:schemeClr val="dk1"/>
              </a:buClr>
              <a:buSzPts val="2800"/>
              <a:buNone/>
            </a:pPr>
            <a:endParaRPr sz="3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6FB"/>
        </a:solidFill>
        <a:effectLst/>
      </p:bgPr>
    </p:bg>
    <p:spTree>
      <p:nvGrpSpPr>
        <p:cNvPr id="1" name="Shape 197"/>
        <p:cNvGrpSpPr/>
        <p:nvPr/>
      </p:nvGrpSpPr>
      <p:grpSpPr>
        <a:xfrm>
          <a:off x="0" y="0"/>
          <a:ext cx="0" cy="0"/>
          <a:chOff x="0" y="0"/>
          <a:chExt cx="0" cy="0"/>
        </a:xfrm>
      </p:grpSpPr>
      <p:sp>
        <p:nvSpPr>
          <p:cNvPr id="900" name="Content Card"/>
          <p:cNvSpPr/>
          <p:nvPr/>
        </p:nvSpPr>
        <p:spPr>
          <a:xfrm>
            <a:off x="600000" y="1400000"/>
            <a:ext cx="10992000" cy="4900000"/>
          </a:xfrm>
          <a:prstGeom prst="roundRect">
            <a:avLst>
              <a:gd name="adj" fmla="val 3000"/>
            </a:avLst>
          </a:prstGeom>
          <a:solidFill>
            <a:srgbClr val="FFFFFF"/>
          </a:solidFill>
          <a:ln w="9525">
            <a:solidFill>
              <a:srgbClr val="D5DDEB"/>
            </a:solidFill>
          </a:ln>
          <a:effectLst>
            <a:outerShdw blurRad="76200" dist="25400" dir="5400000" algn="t" rotWithShape="0">
              <a:srgbClr val="14284B">
                <a:alpha val="15000"/>
              </a:srgbClr>
            </a:outerShdw>
          </a:effectLst>
        </p:spPr>
        <p:txBody>
          <a:bodyPr/>
          <a:lstStyle/>
          <a:p>
            <a:endParaRPr lang="en-US"/>
          </a:p>
        </p:txBody>
      </p:sp>
      <p:sp>
        <p:nvSpPr>
          <p:cNvPr id="198" name="Google Shape;198;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4284B"/>
              </a:buClr>
              <a:buSzPts val="3600"/>
              <a:buFont typeface="Calibri"/>
              <a:buNone/>
            </a:pPr>
            <a:r>
              <a:rPr lang="en-US" sz="3600" b="1">
                <a:solidFill>
                  <a:srgbClr val="14284B"/>
                </a:solidFill>
              </a:rPr>
              <a:t>Objectives </a:t>
            </a:r>
            <a:endParaRPr sz="3600">
              <a:solidFill>
                <a:srgbClr val="14284B"/>
              </a:solidFill>
            </a:endParaRPr>
          </a:p>
        </p:txBody>
      </p:sp>
      <p:sp>
        <p:nvSpPr>
          <p:cNvPr id="199" name="Google Shape;19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200" name="Google Shape;20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201" name="Google Shape;201;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342900" algn="l" rtl="0">
              <a:spcBef>
                <a:spcPts val="0"/>
              </a:spcBef>
              <a:spcAft>
                <a:spcPts val="0"/>
              </a:spcAft>
              <a:buClr>
                <a:srgbClr val="C8102E"/>
              </a:buClr>
              <a:buSzPts val="1800"/>
              <a:buAutoNum type="arabicPeriod"/>
            </a:pPr>
            <a:r>
              <a:rPr lang="en-US"/>
              <a:t>To design a structured relational database for group expense management.</a:t>
            </a:r>
            <a:endParaRPr/>
          </a:p>
          <a:p>
            <a:pPr marL="457200" lvl="0" indent="-342900" algn="l" rtl="0">
              <a:spcBef>
                <a:spcPts val="0"/>
              </a:spcBef>
              <a:spcAft>
                <a:spcPts val="0"/>
              </a:spcAft>
              <a:buClr>
                <a:srgbClr val="C8102E"/>
              </a:buClr>
              <a:buSzPts val="1800"/>
              <a:buAutoNum type="arabicPeriod"/>
            </a:pPr>
            <a:r>
              <a:rPr lang="en-US"/>
              <a:t>To store users, groups, budgets, expenses and settlements efficiently.</a:t>
            </a:r>
            <a:endParaRPr/>
          </a:p>
          <a:p>
            <a:pPr marL="457200" lvl="0" indent="-342900" algn="l" rtl="0">
              <a:spcBef>
                <a:spcPts val="0"/>
              </a:spcBef>
              <a:spcAft>
                <a:spcPts val="0"/>
              </a:spcAft>
              <a:buClr>
                <a:srgbClr val="C8102E"/>
              </a:buClr>
              <a:buSzPts val="1800"/>
              <a:buAutoNum type="arabicPeriod"/>
            </a:pPr>
            <a:r>
              <a:rPr lang="en-US"/>
              <a:t>To calculate individual expense shares accurately.</a:t>
            </a:r>
            <a:endParaRPr/>
          </a:p>
          <a:p>
            <a:pPr marL="457200" lvl="0" indent="-342900" algn="l" rtl="0">
              <a:spcBef>
                <a:spcPts val="0"/>
              </a:spcBef>
              <a:spcAft>
                <a:spcPts val="0"/>
              </a:spcAft>
              <a:buClr>
                <a:srgbClr val="C8102E"/>
              </a:buClr>
              <a:buSzPts val="1800"/>
              <a:buAutoNum type="arabicPeriod"/>
            </a:pPr>
            <a:r>
              <a:rPr lang="en-US"/>
              <a:t>To track contributions and pending payments.</a:t>
            </a:r>
            <a:endParaRPr/>
          </a:p>
          <a:p>
            <a:pPr marL="457200" lvl="0" indent="-342900" algn="l" rtl="0">
              <a:spcBef>
                <a:spcPts val="0"/>
              </a:spcBef>
              <a:spcAft>
                <a:spcPts val="0"/>
              </a:spcAft>
              <a:buClr>
                <a:srgbClr val="C8102E"/>
              </a:buClr>
              <a:buSzPts val="1800"/>
              <a:buAutoNum type="arabicPeriod"/>
            </a:pPr>
            <a:r>
              <a:rPr lang="en-US"/>
              <a:t>To provide useful expense and budget reports using SQL queries.</a:t>
            </a:r>
            <a:endParaRPr/>
          </a:p>
          <a:p>
            <a:pPr marL="457200" lvl="0" indent="-342900" algn="l" rtl="0">
              <a:spcBef>
                <a:spcPts val="0"/>
              </a:spcBef>
              <a:spcAft>
                <a:spcPts val="0"/>
              </a:spcAft>
              <a:buClr>
                <a:srgbClr val="C8102E"/>
              </a:buClr>
              <a:buSzPts val="1800"/>
              <a:buAutoNum type="arabicPeriod"/>
            </a:pPr>
            <a:r>
              <a:rPr lang="en-US"/>
              <a:t>To maintain data integrity using constraints and transactions.</a:t>
            </a:r>
            <a:endParaRPr/>
          </a:p>
          <a:p>
            <a:pPr marL="457200" lvl="0" indent="-342900" algn="l" rtl="0">
              <a:spcBef>
                <a:spcPts val="0"/>
              </a:spcBef>
              <a:spcAft>
                <a:spcPts val="0"/>
              </a:spcAft>
              <a:buClr>
                <a:srgbClr val="C8102E"/>
              </a:buClr>
              <a:buSzPts val="1800"/>
              <a:buAutoNum type="arabicPeriod"/>
            </a:pPr>
            <a:r>
              <a:rPr lang="en-US"/>
              <a:t>To develop backend APIs for interacting with the database.</a:t>
            </a:r>
            <a:endParaRPr/>
          </a:p>
          <a:p>
            <a:pPr marL="457200" lvl="0" indent="-342900" algn="l" rtl="0">
              <a:spcBef>
                <a:spcPts val="0"/>
              </a:spcBef>
              <a:spcAft>
                <a:spcPts val="0"/>
              </a:spcAft>
              <a:buClr>
                <a:srgbClr val="C8102E"/>
              </a:buClr>
              <a:buSzPts val="1800"/>
              <a:buAutoNum type="arabicPeriod"/>
            </a:pPr>
            <a:r>
              <a:rPr lang="en-US"/>
              <a:t>To provide a simple and organized expense management system.</a:t>
            </a:r>
            <a:endParaRPr/>
          </a:p>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6FB"/>
        </a:solidFill>
        <a:effectLst/>
      </p:bgPr>
    </p:bg>
    <p:spTree>
      <p:nvGrpSpPr>
        <p:cNvPr id="1" name="Shape 206"/>
        <p:cNvGrpSpPr/>
        <p:nvPr/>
      </p:nvGrpSpPr>
      <p:grpSpPr>
        <a:xfrm>
          <a:off x="0" y="0"/>
          <a:ext cx="0" cy="0"/>
          <a:chOff x="0" y="0"/>
          <a:chExt cx="0" cy="0"/>
        </a:xfrm>
      </p:grpSpPr>
      <p:sp>
        <p:nvSpPr>
          <p:cNvPr id="900" name="Content Card"/>
          <p:cNvSpPr/>
          <p:nvPr/>
        </p:nvSpPr>
        <p:spPr>
          <a:xfrm>
            <a:off x="600000" y="1395700"/>
            <a:ext cx="10992000" cy="4900000"/>
          </a:xfrm>
          <a:prstGeom prst="roundRect">
            <a:avLst>
              <a:gd name="adj" fmla="val 3000"/>
            </a:avLst>
          </a:prstGeom>
          <a:solidFill>
            <a:srgbClr val="FFFFFF"/>
          </a:solidFill>
          <a:ln w="9525">
            <a:solidFill>
              <a:srgbClr val="D5DDEB"/>
            </a:solidFill>
          </a:ln>
          <a:effectLst>
            <a:outerShdw blurRad="76200" dist="25400" dir="5400000" algn="t" rotWithShape="0">
              <a:srgbClr val="14284B">
                <a:alpha val="15000"/>
              </a:srgbClr>
            </a:outerShdw>
          </a:effectLst>
        </p:spPr>
        <p:txBody>
          <a:bodyPr/>
          <a:lstStyle/>
          <a:p>
            <a:endParaRPr lang="en-US"/>
          </a:p>
        </p:txBody>
      </p:sp>
      <p:sp>
        <p:nvSpPr>
          <p:cNvPr id="207" name="Google Shape;207;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4284B"/>
              </a:buClr>
              <a:buSzPts val="3600"/>
              <a:buFont typeface="Calibri"/>
              <a:buNone/>
            </a:pPr>
            <a:r>
              <a:rPr lang="en-US" sz="3600" b="1">
                <a:solidFill>
                  <a:srgbClr val="14284B"/>
                </a:solidFill>
              </a:rPr>
              <a:t>Modules</a:t>
            </a:r>
            <a:endParaRPr sz="3600">
              <a:solidFill>
                <a:srgbClr val="14284B"/>
              </a:solidFill>
            </a:endParaRPr>
          </a:p>
        </p:txBody>
      </p:sp>
      <p:sp>
        <p:nvSpPr>
          <p:cNvPr id="208" name="Google Shape;20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209" name="Google Shape;20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210" name="Google Shape;210;p27"/>
          <p:cNvSpPr txBox="1">
            <a:spLocks noGrp="1"/>
          </p:cNvSpPr>
          <p:nvPr>
            <p:ph type="body" idx="1"/>
          </p:nvPr>
        </p:nvSpPr>
        <p:spPr>
          <a:xfrm>
            <a:off x="1444820" y="1296038"/>
            <a:ext cx="4114800" cy="37716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1400"/>
              </a:spcBef>
              <a:spcAft>
                <a:spcPts val="0"/>
              </a:spcAft>
              <a:buClr>
                <a:schemeClr val="dk1"/>
              </a:buClr>
              <a:buSzPts val="1100"/>
              <a:buFont typeface="Arial"/>
              <a:buNone/>
            </a:pPr>
            <a:r>
              <a:rPr lang="en-US" sz="1800" b="1" dirty="0"/>
              <a:t>1. User Management</a:t>
            </a:r>
            <a:endParaRPr sz="1800" b="1" dirty="0"/>
          </a:p>
          <a:p>
            <a:pPr marL="457200" lvl="0" indent="-342900" algn="l" rtl="0">
              <a:lnSpc>
                <a:spcPct val="95000"/>
              </a:lnSpc>
              <a:spcBef>
                <a:spcPts val="1200"/>
              </a:spcBef>
              <a:spcAft>
                <a:spcPts val="0"/>
              </a:spcAft>
              <a:buClr>
                <a:srgbClr val="C8102E"/>
              </a:buClr>
              <a:buSzPts val="1800"/>
              <a:buFont typeface="Calibri"/>
              <a:buChar char="●"/>
            </a:pPr>
            <a:r>
              <a:rPr lang="en-US" sz="1800" dirty="0"/>
              <a:t>User registration</a:t>
            </a:r>
            <a:endParaRPr sz="1800" dirty="0"/>
          </a:p>
          <a:p>
            <a:pPr marL="457200" lvl="0" indent="-342900" algn="l" rtl="0">
              <a:lnSpc>
                <a:spcPct val="95000"/>
              </a:lnSpc>
              <a:spcBef>
                <a:spcPts val="0"/>
              </a:spcBef>
              <a:spcAft>
                <a:spcPts val="0"/>
              </a:spcAft>
              <a:buClr>
                <a:srgbClr val="C8102E"/>
              </a:buClr>
              <a:buSzPts val="1800"/>
              <a:buFont typeface="Calibri"/>
              <a:buChar char="●"/>
            </a:pPr>
            <a:r>
              <a:rPr lang="en-US" sz="1800" dirty="0"/>
              <a:t>User details</a:t>
            </a:r>
            <a:endParaRPr sz="1800" dirty="0"/>
          </a:p>
          <a:p>
            <a:pPr marL="457200" lvl="0" indent="-342900" algn="l" rtl="0">
              <a:lnSpc>
                <a:spcPct val="95000"/>
              </a:lnSpc>
              <a:spcBef>
                <a:spcPts val="0"/>
              </a:spcBef>
              <a:spcAft>
                <a:spcPts val="0"/>
              </a:spcAft>
              <a:buClr>
                <a:srgbClr val="C8102E"/>
              </a:buClr>
              <a:buSzPts val="1800"/>
              <a:buFont typeface="Calibri"/>
              <a:buChar char="●"/>
            </a:pPr>
            <a:r>
              <a:rPr lang="en-US" sz="1800" dirty="0"/>
              <a:t>User-group association</a:t>
            </a:r>
            <a:endParaRPr sz="1800" dirty="0"/>
          </a:p>
          <a:p>
            <a:pPr marL="0" lvl="0" indent="0" algn="l" rtl="0">
              <a:lnSpc>
                <a:spcPct val="95000"/>
              </a:lnSpc>
              <a:spcBef>
                <a:spcPts val="1400"/>
              </a:spcBef>
              <a:spcAft>
                <a:spcPts val="0"/>
              </a:spcAft>
              <a:buClr>
                <a:schemeClr val="dk1"/>
              </a:buClr>
              <a:buSzPts val="1100"/>
              <a:buFont typeface="Arial"/>
              <a:buNone/>
            </a:pPr>
            <a:r>
              <a:rPr lang="en-US" sz="1800" b="1" dirty="0"/>
              <a:t>2. Group Management</a:t>
            </a:r>
            <a:endParaRPr sz="1800" b="1" dirty="0"/>
          </a:p>
          <a:p>
            <a:pPr marL="457200" lvl="0" indent="-342900" algn="l" rtl="0">
              <a:lnSpc>
                <a:spcPct val="95000"/>
              </a:lnSpc>
              <a:spcBef>
                <a:spcPts val="1200"/>
              </a:spcBef>
              <a:spcAft>
                <a:spcPts val="0"/>
              </a:spcAft>
              <a:buClr>
                <a:srgbClr val="C8102E"/>
              </a:buClr>
              <a:buSzPts val="1800"/>
              <a:buFont typeface="Calibri"/>
              <a:buChar char="●"/>
            </a:pPr>
            <a:r>
              <a:rPr lang="en-US" sz="1800" dirty="0"/>
              <a:t>Create groups</a:t>
            </a:r>
            <a:endParaRPr sz="1800" dirty="0"/>
          </a:p>
          <a:p>
            <a:pPr marL="457200" lvl="0" indent="-342900" algn="l" rtl="0">
              <a:lnSpc>
                <a:spcPct val="95000"/>
              </a:lnSpc>
              <a:spcBef>
                <a:spcPts val="0"/>
              </a:spcBef>
              <a:spcAft>
                <a:spcPts val="0"/>
              </a:spcAft>
              <a:buClr>
                <a:srgbClr val="C8102E"/>
              </a:buClr>
              <a:buSzPts val="1800"/>
              <a:buFont typeface="Calibri"/>
              <a:buChar char="●"/>
            </a:pPr>
            <a:r>
              <a:rPr lang="en-US" sz="1800" dirty="0"/>
              <a:t>Add/remove members</a:t>
            </a:r>
            <a:endParaRPr sz="1800" dirty="0"/>
          </a:p>
          <a:p>
            <a:pPr marL="457200" lvl="0" indent="-342900" algn="l" rtl="0">
              <a:lnSpc>
                <a:spcPct val="95000"/>
              </a:lnSpc>
              <a:spcBef>
                <a:spcPts val="0"/>
              </a:spcBef>
              <a:spcAft>
                <a:spcPts val="0"/>
              </a:spcAft>
              <a:buClr>
                <a:srgbClr val="C8102E"/>
              </a:buClr>
              <a:buSzPts val="1800"/>
              <a:buFont typeface="Calibri"/>
              <a:buChar char="●"/>
            </a:pPr>
            <a:r>
              <a:rPr lang="en-US" sz="1800" dirty="0"/>
              <a:t>Set group budget</a:t>
            </a:r>
            <a:endParaRPr sz="1800" dirty="0"/>
          </a:p>
          <a:p>
            <a:pPr marL="0" lvl="0" indent="0" algn="l" rtl="0">
              <a:lnSpc>
                <a:spcPct val="95000"/>
              </a:lnSpc>
              <a:spcBef>
                <a:spcPts val="1400"/>
              </a:spcBef>
              <a:spcAft>
                <a:spcPts val="0"/>
              </a:spcAft>
              <a:buClr>
                <a:schemeClr val="dk1"/>
              </a:buClr>
              <a:buSzPts val="1100"/>
              <a:buFont typeface="Arial"/>
              <a:buNone/>
            </a:pPr>
            <a:r>
              <a:rPr lang="en-US" sz="1800" b="1" dirty="0"/>
              <a:t>3. Expense Management</a:t>
            </a:r>
            <a:endParaRPr sz="1800" b="1" dirty="0"/>
          </a:p>
          <a:p>
            <a:pPr marL="457200" lvl="0" indent="-342900" algn="l" rtl="0">
              <a:lnSpc>
                <a:spcPct val="95000"/>
              </a:lnSpc>
              <a:spcBef>
                <a:spcPts val="1200"/>
              </a:spcBef>
              <a:spcAft>
                <a:spcPts val="0"/>
              </a:spcAft>
              <a:buClr>
                <a:srgbClr val="C8102E"/>
              </a:buClr>
              <a:buSzPts val="1800"/>
              <a:buFont typeface="Calibri"/>
              <a:buChar char="●"/>
            </a:pPr>
            <a:r>
              <a:rPr lang="en-US" sz="1800" dirty="0"/>
              <a:t>Add expenses</a:t>
            </a:r>
            <a:endParaRPr sz="1800" dirty="0"/>
          </a:p>
          <a:p>
            <a:pPr marL="457200" lvl="0" indent="-342900" algn="l" rtl="0">
              <a:lnSpc>
                <a:spcPct val="95000"/>
              </a:lnSpc>
              <a:spcBef>
                <a:spcPts val="0"/>
              </a:spcBef>
              <a:spcAft>
                <a:spcPts val="0"/>
              </a:spcAft>
              <a:buClr>
                <a:srgbClr val="C8102E"/>
              </a:buClr>
              <a:buSzPts val="1800"/>
              <a:buFont typeface="Calibri"/>
              <a:buChar char="●"/>
            </a:pPr>
            <a:r>
              <a:rPr lang="en-US" sz="1800" dirty="0"/>
              <a:t>Record payer</a:t>
            </a:r>
            <a:endParaRPr sz="1800" dirty="0"/>
          </a:p>
          <a:p>
            <a:pPr marL="457200" lvl="0" indent="-342900" algn="l" rtl="0">
              <a:lnSpc>
                <a:spcPct val="95000"/>
              </a:lnSpc>
              <a:spcBef>
                <a:spcPts val="0"/>
              </a:spcBef>
              <a:spcAft>
                <a:spcPts val="0"/>
              </a:spcAft>
              <a:buClr>
                <a:srgbClr val="C8102E"/>
              </a:buClr>
              <a:buSzPts val="1800"/>
              <a:buFont typeface="Calibri"/>
              <a:buChar char="●"/>
            </a:pPr>
            <a:r>
              <a:rPr lang="en-US" sz="1800" dirty="0"/>
              <a:t>Assign expense participants</a:t>
            </a:r>
            <a:endParaRPr sz="1800" dirty="0"/>
          </a:p>
          <a:p>
            <a:pPr marL="457200" lvl="0" indent="-342900" algn="l" rtl="0">
              <a:lnSpc>
                <a:spcPct val="95000"/>
              </a:lnSpc>
              <a:spcBef>
                <a:spcPts val="0"/>
              </a:spcBef>
              <a:spcAft>
                <a:spcPts val="0"/>
              </a:spcAft>
              <a:buClr>
                <a:srgbClr val="C8102E"/>
              </a:buClr>
              <a:buSzPts val="1800"/>
              <a:buFont typeface="Calibri"/>
              <a:buChar char="●"/>
            </a:pPr>
            <a:r>
              <a:rPr lang="en-US" sz="1800" dirty="0"/>
              <a:t>Calculate individual shares</a:t>
            </a:r>
            <a:endParaRPr sz="1800" dirty="0"/>
          </a:p>
          <a:p>
            <a:pPr marL="228600" lvl="0" indent="-50800" algn="l" rtl="0">
              <a:lnSpc>
                <a:spcPct val="70000"/>
              </a:lnSpc>
              <a:spcBef>
                <a:spcPts val="1200"/>
              </a:spcBef>
              <a:spcAft>
                <a:spcPts val="0"/>
              </a:spcAft>
              <a:buClr>
                <a:schemeClr val="dk1"/>
              </a:buClr>
              <a:buSzPts val="2800"/>
              <a:buNone/>
            </a:pPr>
            <a:endParaRPr sz="1800" dirty="0"/>
          </a:p>
        </p:txBody>
      </p:sp>
      <p:sp>
        <p:nvSpPr>
          <p:cNvPr id="211" name="Google Shape;211;p27"/>
          <p:cNvSpPr txBox="1">
            <a:spLocks noGrp="1"/>
          </p:cNvSpPr>
          <p:nvPr>
            <p:ph type="body" idx="1"/>
          </p:nvPr>
        </p:nvSpPr>
        <p:spPr>
          <a:xfrm>
            <a:off x="6770200" y="1207538"/>
            <a:ext cx="4335600" cy="38601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800" b="1" dirty="0"/>
              <a:t>4. Budget Management</a:t>
            </a:r>
            <a:endParaRPr sz="1800" b="1" dirty="0"/>
          </a:p>
          <a:p>
            <a:pPr marL="457200" lvl="0" indent="-342900" algn="l" rtl="0">
              <a:lnSpc>
                <a:spcPct val="115000"/>
              </a:lnSpc>
              <a:spcBef>
                <a:spcPts val="1200"/>
              </a:spcBef>
              <a:spcAft>
                <a:spcPts val="0"/>
              </a:spcAft>
              <a:buClr>
                <a:srgbClr val="C8102E"/>
              </a:buClr>
              <a:buSzPts val="1800"/>
              <a:buFont typeface="Calibri"/>
              <a:buChar char="●"/>
            </a:pPr>
            <a:r>
              <a:rPr lang="en-US" sz="1800" dirty="0"/>
              <a:t>Track total budget</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Monitor spending</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Calculate remaining budget</a:t>
            </a:r>
            <a:endParaRPr sz="1800" dirty="0"/>
          </a:p>
          <a:p>
            <a:pPr marL="0" lvl="0" indent="0" algn="l" rtl="0">
              <a:lnSpc>
                <a:spcPct val="115000"/>
              </a:lnSpc>
              <a:spcBef>
                <a:spcPts val="1400"/>
              </a:spcBef>
              <a:spcAft>
                <a:spcPts val="0"/>
              </a:spcAft>
              <a:buClr>
                <a:schemeClr val="dk1"/>
              </a:buClr>
              <a:buSzPts val="1100"/>
              <a:buFont typeface="Arial"/>
              <a:buNone/>
            </a:pPr>
            <a:r>
              <a:rPr lang="en-US" sz="1800" b="1" dirty="0"/>
              <a:t>5. Settlement Management</a:t>
            </a:r>
            <a:endParaRPr sz="1800" b="1" dirty="0"/>
          </a:p>
          <a:p>
            <a:pPr marL="457200" lvl="0" indent="-342900" algn="l" rtl="0">
              <a:lnSpc>
                <a:spcPct val="115000"/>
              </a:lnSpc>
              <a:spcBef>
                <a:spcPts val="1200"/>
              </a:spcBef>
              <a:spcAft>
                <a:spcPts val="0"/>
              </a:spcAft>
              <a:buClr>
                <a:srgbClr val="C8102E"/>
              </a:buClr>
              <a:buSzPts val="1800"/>
              <a:buFont typeface="Calibri"/>
              <a:buChar char="●"/>
            </a:pPr>
            <a:r>
              <a:rPr lang="en-US" sz="1800" dirty="0"/>
              <a:t>Track who owes whom</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Record payments</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Mark settlements as completed</a:t>
            </a:r>
            <a:endParaRPr sz="1800" dirty="0"/>
          </a:p>
          <a:p>
            <a:pPr marL="0" lvl="0" indent="0" algn="l" rtl="0">
              <a:lnSpc>
                <a:spcPct val="115000"/>
              </a:lnSpc>
              <a:spcBef>
                <a:spcPts val="1400"/>
              </a:spcBef>
              <a:spcAft>
                <a:spcPts val="0"/>
              </a:spcAft>
              <a:buClr>
                <a:schemeClr val="dk1"/>
              </a:buClr>
              <a:buSzPts val="1100"/>
              <a:buFont typeface="Arial"/>
              <a:buNone/>
            </a:pPr>
            <a:r>
              <a:rPr lang="en-US" sz="1800" b="1" dirty="0"/>
              <a:t>6. Reports &amp; Analytics</a:t>
            </a:r>
            <a:endParaRPr sz="1800" b="1" dirty="0"/>
          </a:p>
          <a:p>
            <a:pPr marL="457200" lvl="0" indent="-342900" algn="l" rtl="0">
              <a:lnSpc>
                <a:spcPct val="115000"/>
              </a:lnSpc>
              <a:spcBef>
                <a:spcPts val="1200"/>
              </a:spcBef>
              <a:spcAft>
                <a:spcPts val="0"/>
              </a:spcAft>
              <a:buClr>
                <a:srgbClr val="C8102E"/>
              </a:buClr>
              <a:buSzPts val="1800"/>
              <a:buFont typeface="Calibri"/>
              <a:buChar char="●"/>
            </a:pPr>
            <a:r>
              <a:rPr lang="en-US" sz="1800" dirty="0"/>
              <a:t>Total group spending</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Member-wise spending</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Expense summaries</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Budget status</a:t>
            </a:r>
            <a:endParaRPr sz="1800" dirty="0"/>
          </a:p>
          <a:p>
            <a:pPr marL="228600" lvl="0" indent="-50800" algn="l" rtl="0">
              <a:lnSpc>
                <a:spcPct val="70000"/>
              </a:lnSpc>
              <a:spcBef>
                <a:spcPts val="1200"/>
              </a:spcBef>
              <a:spcAft>
                <a:spcPts val="0"/>
              </a:spcAft>
              <a:buClr>
                <a:schemeClr val="dk1"/>
              </a:buClr>
              <a:buSzPts val="2800"/>
              <a:buNone/>
            </a:pPr>
            <a:endParaRPr sz="18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6FB"/>
        </a:solidFill>
        <a:effectLst/>
      </p:bgPr>
    </p:bg>
    <p:spTree>
      <p:nvGrpSpPr>
        <p:cNvPr id="1" name="Shape 216"/>
        <p:cNvGrpSpPr/>
        <p:nvPr/>
      </p:nvGrpSpPr>
      <p:grpSpPr>
        <a:xfrm>
          <a:off x="0" y="0"/>
          <a:ext cx="0" cy="0"/>
          <a:chOff x="0" y="0"/>
          <a:chExt cx="0" cy="0"/>
        </a:xfrm>
      </p:grpSpPr>
      <p:sp>
        <p:nvSpPr>
          <p:cNvPr id="900" name="Content Card"/>
          <p:cNvSpPr/>
          <p:nvPr/>
        </p:nvSpPr>
        <p:spPr>
          <a:xfrm>
            <a:off x="600000" y="1400000"/>
            <a:ext cx="10992000" cy="4900000"/>
          </a:xfrm>
          <a:prstGeom prst="roundRect">
            <a:avLst>
              <a:gd name="adj" fmla="val 3000"/>
            </a:avLst>
          </a:prstGeom>
          <a:solidFill>
            <a:srgbClr val="FFFFFF"/>
          </a:solidFill>
          <a:ln w="9525">
            <a:solidFill>
              <a:srgbClr val="D5DDEB"/>
            </a:solidFill>
          </a:ln>
          <a:effectLst>
            <a:outerShdw blurRad="76200" dist="25400" dir="5400000" algn="t" rotWithShape="0">
              <a:srgbClr val="14284B">
                <a:alpha val="15000"/>
              </a:srgbClr>
            </a:outerShdw>
          </a:effectLst>
        </p:spPr>
        <p:txBody>
          <a:bodyPr/>
          <a:lstStyle/>
          <a:p>
            <a:endParaRPr lang="en-US"/>
          </a:p>
        </p:txBody>
      </p:sp>
      <p:sp>
        <p:nvSpPr>
          <p:cNvPr id="217" name="Google Shape;217;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14284B"/>
              </a:buClr>
              <a:buSzPts val="3200"/>
              <a:buFont typeface="Calibri"/>
              <a:buNone/>
            </a:pPr>
            <a:r>
              <a:rPr lang="en-US" sz="3200" b="1">
                <a:solidFill>
                  <a:srgbClr val="14284B"/>
                </a:solidFill>
              </a:rPr>
              <a:t>SOFTWARE REQUIREMENTS </a:t>
            </a:r>
            <a:endParaRPr sz="3200">
              <a:solidFill>
                <a:srgbClr val="14284B"/>
              </a:solidFill>
            </a:endParaRPr>
          </a:p>
        </p:txBody>
      </p:sp>
      <p:sp>
        <p:nvSpPr>
          <p:cNvPr id="218" name="Google Shape;21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219" name="Google Shape;21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220" name="Google Shape;220;p28"/>
          <p:cNvSpPr txBox="1">
            <a:spLocks noGrp="1"/>
          </p:cNvSpPr>
          <p:nvPr>
            <p:ph type="body" idx="1"/>
          </p:nvPr>
        </p:nvSpPr>
        <p:spPr>
          <a:xfrm>
            <a:off x="1661475" y="1825625"/>
            <a:ext cx="4434600" cy="34170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None/>
            </a:pPr>
            <a:r>
              <a:rPr lang="en-US" sz="2000" b="1"/>
              <a:t>Programming Language:    </a:t>
            </a:r>
            <a:r>
              <a:rPr lang="en-US" sz="2000"/>
              <a:t>Python</a:t>
            </a:r>
            <a:endParaRPr sz="2000"/>
          </a:p>
          <a:p>
            <a:pPr marL="0" lvl="0" indent="0" algn="l" rtl="0">
              <a:lnSpc>
                <a:spcPct val="115000"/>
              </a:lnSpc>
              <a:spcBef>
                <a:spcPts val="1200"/>
              </a:spcBef>
              <a:spcAft>
                <a:spcPts val="0"/>
              </a:spcAft>
              <a:buClr>
                <a:schemeClr val="dk1"/>
              </a:buClr>
              <a:buSzPts val="1100"/>
              <a:buNone/>
            </a:pPr>
            <a:r>
              <a:rPr lang="en-US" sz="2000" b="1"/>
              <a:t>Database:     </a:t>
            </a:r>
            <a:r>
              <a:rPr lang="en-US" sz="2000"/>
              <a:t>PostgreSQL, SQL</a:t>
            </a:r>
            <a:endParaRPr sz="2000"/>
          </a:p>
          <a:p>
            <a:pPr marL="0" lvl="0" indent="0" algn="l" rtl="0">
              <a:lnSpc>
                <a:spcPct val="115000"/>
              </a:lnSpc>
              <a:spcBef>
                <a:spcPts val="1200"/>
              </a:spcBef>
              <a:spcAft>
                <a:spcPts val="0"/>
              </a:spcAft>
              <a:buClr>
                <a:schemeClr val="dk1"/>
              </a:buClr>
              <a:buSzPts val="1100"/>
              <a:buNone/>
            </a:pPr>
            <a:r>
              <a:rPr lang="en-US" sz="2000" b="1"/>
              <a:t>Backend Framework: </a:t>
            </a:r>
            <a:r>
              <a:rPr lang="en-US" sz="2000"/>
              <a:t>FastAPI</a:t>
            </a:r>
            <a:endParaRPr sz="2000"/>
          </a:p>
          <a:p>
            <a:pPr marL="0" lvl="0" indent="0" algn="l" rtl="0">
              <a:lnSpc>
                <a:spcPct val="115000"/>
              </a:lnSpc>
              <a:spcBef>
                <a:spcPts val="1200"/>
              </a:spcBef>
              <a:spcAft>
                <a:spcPts val="0"/>
              </a:spcAft>
              <a:buClr>
                <a:schemeClr val="dk1"/>
              </a:buClr>
              <a:buSzPts val="1100"/>
              <a:buNone/>
            </a:pPr>
            <a:r>
              <a:rPr lang="en-US" sz="2000" b="1"/>
              <a:t>Database Integration: </a:t>
            </a:r>
            <a:r>
              <a:rPr lang="en-US" sz="2000"/>
              <a:t>SQLAlchemy</a:t>
            </a:r>
            <a:endParaRPr sz="2000"/>
          </a:p>
          <a:p>
            <a:pPr marL="0" lvl="0" indent="0" algn="l" rtl="0">
              <a:lnSpc>
                <a:spcPct val="115000"/>
              </a:lnSpc>
              <a:spcBef>
                <a:spcPts val="1200"/>
              </a:spcBef>
              <a:spcAft>
                <a:spcPts val="0"/>
              </a:spcAft>
              <a:buClr>
                <a:schemeClr val="dk1"/>
              </a:buClr>
              <a:buSzPts val="1100"/>
              <a:buNone/>
            </a:pPr>
            <a:r>
              <a:rPr lang="en-US" sz="2000" b="1"/>
              <a:t>API Testing: </a:t>
            </a:r>
            <a:r>
              <a:rPr lang="en-US" sz="2000"/>
              <a:t>Postman</a:t>
            </a:r>
            <a:endParaRPr sz="2000"/>
          </a:p>
          <a:p>
            <a:pPr marL="0" lvl="0" indent="0" algn="l" rtl="0">
              <a:lnSpc>
                <a:spcPct val="115000"/>
              </a:lnSpc>
              <a:spcBef>
                <a:spcPts val="1200"/>
              </a:spcBef>
              <a:spcAft>
                <a:spcPts val="0"/>
              </a:spcAft>
              <a:buClr>
                <a:schemeClr val="dk1"/>
              </a:buClr>
              <a:buSzPts val="1100"/>
              <a:buFont typeface="Arial"/>
              <a:buNone/>
            </a:pPr>
            <a:endParaRPr sz="2000"/>
          </a:p>
          <a:p>
            <a:pPr marL="0" lvl="0" indent="0" algn="l" rtl="0">
              <a:lnSpc>
                <a:spcPct val="90000"/>
              </a:lnSpc>
              <a:spcBef>
                <a:spcPts val="1200"/>
              </a:spcBef>
              <a:spcAft>
                <a:spcPts val="0"/>
              </a:spcAft>
              <a:buClr>
                <a:schemeClr val="dk1"/>
              </a:buClr>
              <a:buSzPts val="2800"/>
              <a:buNone/>
            </a:pPr>
            <a:endParaRPr sz="2000"/>
          </a:p>
        </p:txBody>
      </p:sp>
      <p:sp>
        <p:nvSpPr>
          <p:cNvPr id="221" name="Google Shape;221;p28"/>
          <p:cNvSpPr txBox="1">
            <a:spLocks noGrp="1"/>
          </p:cNvSpPr>
          <p:nvPr>
            <p:ph type="body" idx="1"/>
          </p:nvPr>
        </p:nvSpPr>
        <p:spPr>
          <a:xfrm>
            <a:off x="6334275" y="1690688"/>
            <a:ext cx="4758900" cy="34299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b="1" dirty="0"/>
              <a:t>Development Tools</a:t>
            </a:r>
            <a:endParaRPr sz="1800" b="1" dirty="0"/>
          </a:p>
          <a:p>
            <a:pPr marL="457200" lvl="0" indent="-342900" algn="l" rtl="0">
              <a:lnSpc>
                <a:spcPct val="115000"/>
              </a:lnSpc>
              <a:spcBef>
                <a:spcPts val="1200"/>
              </a:spcBef>
              <a:spcAft>
                <a:spcPts val="0"/>
              </a:spcAft>
              <a:buClr>
                <a:srgbClr val="C8102E"/>
              </a:buClr>
              <a:buSzPts val="1800"/>
              <a:buFont typeface="Calibri"/>
              <a:buChar char="●"/>
            </a:pPr>
            <a:r>
              <a:rPr lang="en-US" sz="1800" dirty="0"/>
              <a:t>VS Code</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Git &amp; GitHub</a:t>
            </a:r>
            <a:endParaRPr sz="1800" dirty="0"/>
          </a:p>
          <a:p>
            <a:pPr marL="0" lvl="0" indent="0" algn="l" rtl="0">
              <a:lnSpc>
                <a:spcPct val="115000"/>
              </a:lnSpc>
              <a:spcBef>
                <a:spcPts val="1400"/>
              </a:spcBef>
              <a:spcAft>
                <a:spcPts val="0"/>
              </a:spcAft>
              <a:buClr>
                <a:schemeClr val="dk1"/>
              </a:buClr>
              <a:buSzPts val="1100"/>
              <a:buFont typeface="Arial"/>
              <a:buNone/>
            </a:pPr>
            <a:r>
              <a:rPr lang="en-US" sz="1800" b="1" dirty="0"/>
              <a:t>Database Concepts</a:t>
            </a:r>
            <a:endParaRPr sz="1800" b="1" dirty="0"/>
          </a:p>
          <a:p>
            <a:pPr marL="457200" lvl="0" indent="-342900" algn="l" rtl="0">
              <a:lnSpc>
                <a:spcPct val="115000"/>
              </a:lnSpc>
              <a:spcBef>
                <a:spcPts val="1200"/>
              </a:spcBef>
              <a:spcAft>
                <a:spcPts val="0"/>
              </a:spcAft>
              <a:buClr>
                <a:srgbClr val="C8102E"/>
              </a:buClr>
              <a:buSzPts val="1800"/>
              <a:buFont typeface="Calibri"/>
              <a:buChar char="●"/>
            </a:pPr>
            <a:r>
              <a:rPr lang="en-US" sz="1800" dirty="0"/>
              <a:t>ER Modelling</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Normalization</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Primary &amp; Foreign Keys</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Constraints</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Joins</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Aggregate Functions</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Transactions</a:t>
            </a:r>
            <a:endParaRPr sz="1800" dirty="0"/>
          </a:p>
          <a:p>
            <a:pPr marL="457200" lvl="0" indent="-342900" algn="l" rtl="0">
              <a:lnSpc>
                <a:spcPct val="115000"/>
              </a:lnSpc>
              <a:spcBef>
                <a:spcPts val="0"/>
              </a:spcBef>
              <a:spcAft>
                <a:spcPts val="0"/>
              </a:spcAft>
              <a:buClr>
                <a:srgbClr val="C8102E"/>
              </a:buClr>
              <a:buSzPts val="1800"/>
              <a:buFont typeface="Calibri"/>
              <a:buChar char="●"/>
            </a:pPr>
            <a:r>
              <a:rPr lang="en-US" sz="1800" dirty="0"/>
              <a:t>Indexing</a:t>
            </a:r>
            <a:endParaRPr sz="1800" dirty="0"/>
          </a:p>
          <a:p>
            <a:pPr marL="0" lvl="0" indent="0" algn="l" rtl="0">
              <a:lnSpc>
                <a:spcPct val="90000"/>
              </a:lnSpc>
              <a:spcBef>
                <a:spcPts val="1200"/>
              </a:spcBef>
              <a:spcAft>
                <a:spcPts val="0"/>
              </a:spcAft>
              <a:buClr>
                <a:schemeClr val="dk1"/>
              </a:buClr>
              <a:buSzPts val="2800"/>
              <a:buNone/>
            </a:pPr>
            <a:endParaRPr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6FB"/>
        </a:solidFill>
        <a:effectLst/>
      </p:bgPr>
    </p:bg>
    <p:spTree>
      <p:nvGrpSpPr>
        <p:cNvPr id="1" name="Shape 225"/>
        <p:cNvGrpSpPr/>
        <p:nvPr/>
      </p:nvGrpSpPr>
      <p:grpSpPr>
        <a:xfrm>
          <a:off x="0" y="0"/>
          <a:ext cx="0" cy="0"/>
          <a:chOff x="0" y="0"/>
          <a:chExt cx="0" cy="0"/>
        </a:xfrm>
      </p:grpSpPr>
      <p:sp>
        <p:nvSpPr>
          <p:cNvPr id="900" name="Content Card"/>
          <p:cNvSpPr/>
          <p:nvPr/>
        </p:nvSpPr>
        <p:spPr>
          <a:xfrm>
            <a:off x="600000" y="1300000"/>
            <a:ext cx="10992000" cy="5200000"/>
          </a:xfrm>
          <a:prstGeom prst="roundRect">
            <a:avLst>
              <a:gd name="adj" fmla="val 3000"/>
            </a:avLst>
          </a:prstGeom>
          <a:solidFill>
            <a:srgbClr val="FFFFFF"/>
          </a:solidFill>
          <a:ln w="9525">
            <a:solidFill>
              <a:srgbClr val="D5DDEB"/>
            </a:solidFill>
          </a:ln>
          <a:effectLst>
            <a:outerShdw blurRad="76200" dist="25400" dir="5400000" algn="t" rotWithShape="0">
              <a:srgbClr val="14284B">
                <a:alpha val="15000"/>
              </a:srgbClr>
            </a:outerShdw>
          </a:effectLst>
        </p:spPr>
        <p:txBody>
          <a:bodyPr/>
          <a:lstStyle/>
          <a:p>
            <a:endParaRPr lang="en-US"/>
          </a:p>
        </p:txBody>
      </p:sp>
      <p:sp>
        <p:nvSpPr>
          <p:cNvPr id="226" name="Google Shape;226;p29"/>
          <p:cNvSpPr txBox="1">
            <a:spLocks noGrp="1"/>
          </p:cNvSpPr>
          <p:nvPr>
            <p:ph type="title"/>
          </p:nvPr>
        </p:nvSpPr>
        <p:spPr>
          <a:xfrm>
            <a:off x="2400876" y="283275"/>
            <a:ext cx="7591500" cy="805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14284B"/>
              </a:buClr>
              <a:buSzPts val="3600"/>
              <a:buFont typeface="Calibri"/>
              <a:buNone/>
            </a:pPr>
            <a:r>
              <a:rPr lang="en-US" sz="3600" b="1">
                <a:solidFill>
                  <a:srgbClr val="14284B"/>
                </a:solidFill>
              </a:rPr>
              <a:t>CONCLUSION AND FUTURE SCOPE</a:t>
            </a:r>
            <a:endParaRPr sz="4000" b="1">
              <a:solidFill>
                <a:srgbClr val="14284B"/>
              </a:solidFill>
            </a:endParaRPr>
          </a:p>
        </p:txBody>
      </p:sp>
      <p:sp>
        <p:nvSpPr>
          <p:cNvPr id="227" name="Google Shape;22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228" name="Google Shape;228;p29"/>
          <p:cNvSpPr txBox="1"/>
          <p:nvPr/>
        </p:nvSpPr>
        <p:spPr>
          <a:xfrm>
            <a:off x="1406100" y="1208275"/>
            <a:ext cx="9379800" cy="492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US" sz="1800" b="1" dirty="0">
                <a:solidFill>
                  <a:schemeClr val="dk1"/>
                </a:solidFill>
                <a:latin typeface="Calibri"/>
                <a:ea typeface="Calibri"/>
                <a:cs typeface="Calibri"/>
                <a:sym typeface="Calibri"/>
              </a:rPr>
              <a:t>Conclusion</a:t>
            </a:r>
            <a:endParaRPr sz="1800" b="1" dirty="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US" sz="1800" dirty="0">
                <a:solidFill>
                  <a:schemeClr val="dk1"/>
                </a:solidFill>
                <a:latin typeface="Calibri"/>
                <a:ea typeface="Calibri"/>
                <a:cs typeface="Calibri"/>
                <a:sym typeface="Calibri"/>
              </a:rPr>
              <a:t>The </a:t>
            </a:r>
            <a:r>
              <a:rPr lang="en-US" sz="1800" b="1" dirty="0">
                <a:solidFill>
                  <a:schemeClr val="dk1"/>
                </a:solidFill>
                <a:latin typeface="Calibri"/>
                <a:ea typeface="Calibri"/>
                <a:cs typeface="Calibri"/>
                <a:sym typeface="Calibri"/>
              </a:rPr>
              <a:t>Expense Splitter and Group Budget Manager</a:t>
            </a:r>
            <a:r>
              <a:rPr lang="en-US" sz="1800" dirty="0">
                <a:solidFill>
                  <a:schemeClr val="dk1"/>
                </a:solidFill>
                <a:latin typeface="Calibri"/>
                <a:ea typeface="Calibri"/>
                <a:cs typeface="Calibri"/>
                <a:sym typeface="Calibri"/>
              </a:rPr>
              <a:t> aims to provide a simple and reliable way to manage shared expenses within groups. The system will organize expense data using a structured relational database and provide accurate calculations and reports.</a:t>
            </a:r>
            <a:endParaRPr sz="1800" dirty="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endParaRPr sz="1800" dirty="0">
              <a:solidFill>
                <a:schemeClr val="dk1"/>
              </a:solidFill>
              <a:latin typeface="Calibri"/>
              <a:ea typeface="Calibri"/>
              <a:cs typeface="Calibri"/>
              <a:sym typeface="Calibri"/>
            </a:endParaRPr>
          </a:p>
          <a:p>
            <a:pPr marL="0" lvl="0" indent="0" algn="l" rtl="0">
              <a:lnSpc>
                <a:spcPct val="115000"/>
              </a:lnSpc>
              <a:spcBef>
                <a:spcPts val="1400"/>
              </a:spcBef>
              <a:spcAft>
                <a:spcPts val="0"/>
              </a:spcAft>
              <a:buNone/>
            </a:pPr>
            <a:r>
              <a:rPr lang="en-US" sz="1800" b="1" dirty="0">
                <a:solidFill>
                  <a:schemeClr val="dk1"/>
                </a:solidFill>
                <a:latin typeface="Calibri"/>
                <a:ea typeface="Calibri"/>
                <a:cs typeface="Calibri"/>
                <a:sym typeface="Calibri"/>
              </a:rPr>
              <a:t>Future Scope</a:t>
            </a:r>
            <a:endParaRPr sz="1800" b="1" dirty="0">
              <a:solidFill>
                <a:schemeClr val="dk1"/>
              </a:solidFill>
              <a:latin typeface="Calibri"/>
              <a:ea typeface="Calibri"/>
              <a:cs typeface="Calibri"/>
              <a:sym typeface="Calibri"/>
            </a:endParaRPr>
          </a:p>
          <a:p>
            <a:pPr marL="457200" lvl="0" indent="-342900" algn="l" rtl="0">
              <a:lnSpc>
                <a:spcPct val="115000"/>
              </a:lnSpc>
              <a:spcBef>
                <a:spcPts val="1200"/>
              </a:spcBef>
              <a:spcAft>
                <a:spcPts val="0"/>
              </a:spcAft>
              <a:buClr>
                <a:srgbClr val="C8102E"/>
              </a:buClr>
              <a:buSzPts val="1800"/>
              <a:buFont typeface="Calibri"/>
              <a:buChar char="●"/>
            </a:pPr>
            <a:r>
              <a:rPr lang="en-US" sz="1800" dirty="0">
                <a:solidFill>
                  <a:schemeClr val="dk1"/>
                </a:solidFill>
                <a:latin typeface="Calibri"/>
                <a:ea typeface="Calibri"/>
                <a:cs typeface="Calibri"/>
                <a:sym typeface="Calibri"/>
              </a:rPr>
              <a:t>Mobile application</a:t>
            </a:r>
            <a:endParaRPr sz="1800" dirty="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rgbClr val="C8102E"/>
              </a:buClr>
              <a:buSzPts val="1800"/>
              <a:buFont typeface="Calibri"/>
              <a:buChar char="●"/>
            </a:pPr>
            <a:r>
              <a:rPr lang="en-US" sz="1800" dirty="0">
                <a:solidFill>
                  <a:schemeClr val="dk1"/>
                </a:solidFill>
                <a:latin typeface="Calibri"/>
                <a:ea typeface="Calibri"/>
                <a:cs typeface="Calibri"/>
                <a:sym typeface="Calibri"/>
              </a:rPr>
              <a:t>Online payment integration</a:t>
            </a:r>
            <a:endParaRPr sz="1800" dirty="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rgbClr val="C8102E"/>
              </a:buClr>
              <a:buSzPts val="1800"/>
              <a:buFont typeface="Calibri"/>
              <a:buChar char="●"/>
            </a:pPr>
            <a:r>
              <a:rPr lang="en-US" sz="1800" dirty="0">
                <a:solidFill>
                  <a:schemeClr val="dk1"/>
                </a:solidFill>
                <a:latin typeface="Calibri"/>
                <a:ea typeface="Calibri"/>
                <a:cs typeface="Calibri"/>
                <a:sym typeface="Calibri"/>
              </a:rPr>
              <a:t>Notifications for pending settlements</a:t>
            </a:r>
            <a:endParaRPr sz="1800" dirty="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rgbClr val="C8102E"/>
              </a:buClr>
              <a:buSzPts val="1800"/>
              <a:buFont typeface="Calibri"/>
              <a:buChar char="●"/>
            </a:pPr>
            <a:r>
              <a:rPr lang="en-US" sz="1800" dirty="0">
                <a:solidFill>
                  <a:schemeClr val="dk1"/>
                </a:solidFill>
                <a:latin typeface="Calibri"/>
                <a:ea typeface="Calibri"/>
                <a:cs typeface="Calibri"/>
                <a:sym typeface="Calibri"/>
              </a:rPr>
              <a:t>Advanced spending analytics</a:t>
            </a:r>
            <a:endParaRPr sz="1800" dirty="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rgbClr val="C8102E"/>
              </a:buClr>
              <a:buSzPts val="1800"/>
              <a:buFont typeface="Calibri"/>
              <a:buChar char="●"/>
            </a:pPr>
            <a:r>
              <a:rPr lang="en-US" sz="1800" dirty="0">
                <a:solidFill>
                  <a:schemeClr val="dk1"/>
                </a:solidFill>
                <a:latin typeface="Calibri"/>
                <a:ea typeface="Calibri"/>
                <a:cs typeface="Calibri"/>
                <a:sym typeface="Calibri"/>
              </a:rPr>
              <a:t>Authentication and role-based access</a:t>
            </a:r>
            <a:endParaRPr sz="1800" dirty="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rgbClr val="C8102E"/>
              </a:buClr>
              <a:buSzPts val="1800"/>
              <a:buFont typeface="Calibri"/>
              <a:buChar char="●"/>
            </a:pPr>
            <a:r>
              <a:rPr lang="en-US" sz="1800" dirty="0">
                <a:solidFill>
                  <a:schemeClr val="dk1"/>
                </a:solidFill>
                <a:latin typeface="Calibri"/>
                <a:ea typeface="Calibri"/>
                <a:cs typeface="Calibri"/>
                <a:sym typeface="Calibri"/>
              </a:rPr>
              <a:t>MongoDB/NoSQL integration where appropriate</a:t>
            </a:r>
            <a:endParaRPr sz="1800" dirty="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rgbClr val="C8102E"/>
              </a:buClr>
              <a:buSzPts val="1800"/>
              <a:buFont typeface="Calibri"/>
              <a:buChar char="●"/>
            </a:pPr>
            <a:r>
              <a:rPr lang="en-US" sz="1800" dirty="0">
                <a:solidFill>
                  <a:schemeClr val="dk1"/>
                </a:solidFill>
                <a:latin typeface="Calibri"/>
                <a:ea typeface="Calibri"/>
                <a:cs typeface="Calibri"/>
                <a:sym typeface="Calibri"/>
              </a:rPr>
              <a:t>Real-time expense updates</a:t>
            </a:r>
            <a:endParaRPr sz="1800" dirty="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14284B"/>
        </a:solidFill>
        <a:effectLst/>
      </p:bgPr>
    </p:bg>
    <p:spTree>
      <p:nvGrpSpPr>
        <p:cNvPr id="1" name="Shape 232"/>
        <p:cNvGrpSpPr/>
        <p:nvPr/>
      </p:nvGrpSpPr>
      <p:grpSpPr>
        <a:xfrm>
          <a:off x="0" y="0"/>
          <a:ext cx="0" cy="0"/>
          <a:chOff x="0" y="0"/>
          <a:chExt cx="0" cy="0"/>
        </a:xfrm>
      </p:grpSpPr>
      <p:sp>
        <p:nvSpPr>
          <p:cNvPr id="233" name="Google Shape;233;p30"/>
          <p:cNvSpPr txBox="1">
            <a:spLocks noGrp="1"/>
          </p:cNvSpPr>
          <p:nvPr>
            <p:ph type="body" idx="1"/>
          </p:nvPr>
        </p:nvSpPr>
        <p:spPr>
          <a:xfrm>
            <a:off x="838200" y="740780"/>
            <a:ext cx="10515600" cy="543618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a:p>
          <a:p>
            <a:pPr marL="0" lvl="0" indent="0" algn="ctr" rtl="0">
              <a:lnSpc>
                <a:spcPct val="90000"/>
              </a:lnSpc>
              <a:spcBef>
                <a:spcPts val="1000"/>
              </a:spcBef>
              <a:spcAft>
                <a:spcPts val="0"/>
              </a:spcAft>
              <a:buClr>
                <a:schemeClr val="dk1"/>
              </a:buClr>
              <a:buSzPts val="4400"/>
              <a:buNone/>
            </a:pPr>
            <a:endParaRPr sz="4400"/>
          </a:p>
          <a:p>
            <a:pPr marL="0" lvl="0" indent="0" algn="ctr" rtl="0">
              <a:lnSpc>
                <a:spcPct val="90000"/>
              </a:lnSpc>
              <a:spcBef>
                <a:spcPts val="1000"/>
              </a:spcBef>
              <a:spcAft>
                <a:spcPts val="0"/>
              </a:spcAft>
              <a:buClr>
                <a:schemeClr val="dk1"/>
              </a:buClr>
              <a:buSzPts val="4400"/>
              <a:buNone/>
            </a:pPr>
            <a:endParaRPr sz="4400"/>
          </a:p>
          <a:p>
            <a:pPr marL="0" lvl="0" indent="0" algn="ctr" rtl="0">
              <a:lnSpc>
                <a:spcPct val="90000"/>
              </a:lnSpc>
              <a:spcBef>
                <a:spcPts val="1000"/>
              </a:spcBef>
              <a:spcAft>
                <a:spcPts val="0"/>
              </a:spcAft>
              <a:buClr>
                <a:srgbClr val="FFFFFF"/>
              </a:buClr>
              <a:buSzPts val="4400"/>
              <a:buNone/>
            </a:pPr>
            <a:r>
              <a:rPr lang="en-US" sz="4400" b="1">
                <a:solidFill>
                  <a:srgbClr val="FFFFFF"/>
                </a:solidFill>
              </a:rPr>
              <a:t>THANK YOU</a:t>
            </a:r>
            <a:endParaRPr/>
          </a:p>
        </p:txBody>
      </p:sp>
      <p:sp>
        <p:nvSpPr>
          <p:cNvPr id="234" name="Google Shape;234;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772</Words>
  <Application>Microsoft Office PowerPoint</Application>
  <PresentationFormat>Widescreen</PresentationFormat>
  <Paragraphs>185</Paragraphs>
  <Slides>12</Slides>
  <Notes>12</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12</vt:i4>
      </vt:variant>
    </vt:vector>
  </HeadingPairs>
  <TitlesOfParts>
    <vt:vector size="16" baseType="lpstr">
      <vt:lpstr>Arial</vt:lpstr>
      <vt:lpstr>Calibri</vt:lpstr>
      <vt:lpstr>Office Theme</vt:lpstr>
      <vt:lpstr>Custom Design</vt:lpstr>
      <vt:lpstr>Expense Splitter and Group Budget Manager</vt:lpstr>
      <vt:lpstr>GROUP NUMBER: 1</vt:lpstr>
      <vt:lpstr>ABSTRACT</vt:lpstr>
      <vt:lpstr>INTRODUCTION</vt:lpstr>
      <vt:lpstr>EXISTING SYSTEM</vt:lpstr>
      <vt:lpstr>PROBLEM</vt:lpstr>
      <vt:lpstr>SOLUTION </vt:lpstr>
      <vt:lpstr>Objectives </vt:lpstr>
      <vt:lpstr>Modules</vt:lpstr>
      <vt:lpstr>SOFTWARE REQUIREMENTS </vt:lpstr>
      <vt:lpstr>CONCLUSION AND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Kuvira Ambala</dc:creator>
  <cp:lastModifiedBy>Kuvira Ambala</cp:lastModifiedBy>
  <cp:revision>1</cp:revision>
  <dcterms:modified xsi:type="dcterms:W3CDTF">2026-10-03T03:05:32Z</dcterms:modified>
</cp:coreProperties>
</file>